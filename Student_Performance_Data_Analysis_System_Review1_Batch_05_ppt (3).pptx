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3"/>
  </p:notesMasterIdLst>
  <p:handoutMasterIdLst>
    <p:handoutMasterId r:id="rId24"/>
  </p:handoutMasterIdLst>
  <p:sldIdLst>
    <p:sldId id="256" r:id="rId2"/>
    <p:sldId id="442" r:id="rId3"/>
    <p:sldId id="427" r:id="rId4"/>
    <p:sldId id="428" r:id="rId5"/>
    <p:sldId id="437" r:id="rId6"/>
    <p:sldId id="445" r:id="rId7"/>
    <p:sldId id="436" r:id="rId8"/>
    <p:sldId id="439" r:id="rId9"/>
    <p:sldId id="438" r:id="rId10"/>
    <p:sldId id="443" r:id="rId11"/>
    <p:sldId id="444" r:id="rId12"/>
    <p:sldId id="429" r:id="rId13"/>
    <p:sldId id="434" r:id="rId14"/>
    <p:sldId id="432" r:id="rId15"/>
    <p:sldId id="433" r:id="rId16"/>
    <p:sldId id="446" r:id="rId17"/>
    <p:sldId id="448" r:id="rId18"/>
    <p:sldId id="447" r:id="rId19"/>
    <p:sldId id="449" r:id="rId20"/>
    <p:sldId id="450" r:id="rId21"/>
    <p:sldId id="29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8EB4CA-1C65-4743-AAB5-D9E469D4DBB9}">
          <p14:sldIdLst>
            <p14:sldId id="256"/>
            <p14:sldId id="442"/>
          </p14:sldIdLst>
        </p14:section>
        <p14:section name="Untitled Section" id="{E767EBFD-7A80-4318-A534-CA1EE1EFBC8A}">
          <p14:sldIdLst>
            <p14:sldId id="427"/>
            <p14:sldId id="428"/>
            <p14:sldId id="437"/>
            <p14:sldId id="445"/>
            <p14:sldId id="436"/>
          </p14:sldIdLst>
        </p14:section>
        <p14:section name="Untitled Section" id="{72307782-A409-4FC6-9568-F469230D0306}">
          <p14:sldIdLst>
            <p14:sldId id="439"/>
            <p14:sldId id="438"/>
            <p14:sldId id="443"/>
            <p14:sldId id="444"/>
            <p14:sldId id="429"/>
            <p14:sldId id="434"/>
            <p14:sldId id="432"/>
            <p14:sldId id="433"/>
            <p14:sldId id="446"/>
            <p14:sldId id="448"/>
            <p14:sldId id="447"/>
            <p14:sldId id="449"/>
            <p14:sldId id="450"/>
            <p14:sldId id="2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F101C1-E679-8A0F-4A8E-1B959C406192}" name="konduru jyoshana" initials="kj" userId="konduru jyoshan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560E0-36E5-408C-8B27-13377DC01ED2}" v="19" dt="2026-09-30T06:22:26.8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624" autoAdjust="0"/>
  </p:normalViewPr>
  <p:slideViewPr>
    <p:cSldViewPr>
      <p:cViewPr varScale="1">
        <p:scale>
          <a:sx n="82" d="100"/>
          <a:sy n="82" d="100"/>
        </p:scale>
        <p:origin x="581" y="101"/>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reen Khan" userId="6e242df9dfadd6c8" providerId="LiveId" clId="{A4B9FE81-905D-4A8F-9CD4-40368C0DB5D0}"/>
    <pc:docChg chg="undo custSel addSld delSld modSld sldOrd modSection">
      <pc:chgData name="Shabreen Khan" userId="6e242df9dfadd6c8" providerId="LiveId" clId="{A4B9FE81-905D-4A8F-9CD4-40368C0DB5D0}" dt="2026-09-30T06:41:37.062" v="597" actId="47"/>
      <pc:docMkLst>
        <pc:docMk/>
      </pc:docMkLst>
      <pc:sldChg chg="addSp delSp modSp new mod">
        <pc:chgData name="Shabreen Khan" userId="6e242df9dfadd6c8" providerId="LiveId" clId="{A4B9FE81-905D-4A8F-9CD4-40368C0DB5D0}" dt="2026-09-30T06:35:25.580" v="588" actId="1076"/>
        <pc:sldMkLst>
          <pc:docMk/>
          <pc:sldMk cId="687564839" sldId="446"/>
        </pc:sldMkLst>
        <pc:spChg chg="del">
          <ac:chgData name="Shabreen Khan" userId="6e242df9dfadd6c8" providerId="LiveId" clId="{A4B9FE81-905D-4A8F-9CD4-40368C0DB5D0}" dt="2026-09-30T06:24:37.364" v="498" actId="478"/>
          <ac:spMkLst>
            <pc:docMk/>
            <pc:sldMk cId="687564839" sldId="446"/>
            <ac:spMk id="2" creationId="{CF0CAAE3-6607-7FD6-C72A-7D3D0C6D3C79}"/>
          </ac:spMkLst>
        </pc:spChg>
        <pc:spChg chg="del">
          <ac:chgData name="Shabreen Khan" userId="6e242df9dfadd6c8" providerId="LiveId" clId="{A4B9FE81-905D-4A8F-9CD4-40368C0DB5D0}" dt="2026-09-30T06:24:40.830" v="499" actId="478"/>
          <ac:spMkLst>
            <pc:docMk/>
            <pc:sldMk cId="687564839" sldId="446"/>
            <ac:spMk id="3" creationId="{4ED77C3A-DEFB-11E4-CE85-7C1779FC6549}"/>
          </ac:spMkLst>
        </pc:spChg>
        <pc:spChg chg="del">
          <ac:chgData name="Shabreen Khan" userId="6e242df9dfadd6c8" providerId="LiveId" clId="{A4B9FE81-905D-4A8F-9CD4-40368C0DB5D0}" dt="2026-09-30T06:24:48.171" v="500" actId="478"/>
          <ac:spMkLst>
            <pc:docMk/>
            <pc:sldMk cId="687564839" sldId="446"/>
            <ac:spMk id="4" creationId="{67A9748A-CAE8-0BB2-72C4-102FB2115A1F}"/>
          </ac:spMkLst>
        </pc:spChg>
        <pc:spChg chg="add mod">
          <ac:chgData name="Shabreen Khan" userId="6e242df9dfadd6c8" providerId="LiveId" clId="{A4B9FE81-905D-4A8F-9CD4-40368C0DB5D0}" dt="2026-09-27T04:11:49.105" v="101"/>
          <ac:spMkLst>
            <pc:docMk/>
            <pc:sldMk cId="687564839" sldId="446"/>
            <ac:spMk id="5" creationId="{BA9AF36B-2F97-921F-A5F4-E5EFF54D7DA2}"/>
          </ac:spMkLst>
        </pc:spChg>
        <pc:spChg chg="add del mod">
          <ac:chgData name="Shabreen Khan" userId="6e242df9dfadd6c8" providerId="LiveId" clId="{A4B9FE81-905D-4A8F-9CD4-40368C0DB5D0}" dt="2026-09-30T06:21:48.052" v="478" actId="478"/>
          <ac:spMkLst>
            <pc:docMk/>
            <pc:sldMk cId="687564839" sldId="446"/>
            <ac:spMk id="7" creationId="{937AC22A-8C03-06FB-9B24-4649E1ACAF37}"/>
          </ac:spMkLst>
        </pc:spChg>
        <pc:spChg chg="add mod">
          <ac:chgData name="Shabreen Khan" userId="6e242df9dfadd6c8" providerId="LiveId" clId="{A4B9FE81-905D-4A8F-9CD4-40368C0DB5D0}" dt="2026-09-30T06:22:43.725" v="490" actId="313"/>
          <ac:spMkLst>
            <pc:docMk/>
            <pc:sldMk cId="687564839" sldId="446"/>
            <ac:spMk id="8" creationId="{6F6964CB-ADC4-D254-61DF-CA07F9203840}"/>
          </ac:spMkLst>
        </pc:spChg>
        <pc:spChg chg="add del mod">
          <ac:chgData name="Shabreen Khan" userId="6e242df9dfadd6c8" providerId="LiveId" clId="{A4B9FE81-905D-4A8F-9CD4-40368C0DB5D0}" dt="2026-09-30T06:22:32.922" v="485"/>
          <ac:spMkLst>
            <pc:docMk/>
            <pc:sldMk cId="687564839" sldId="446"/>
            <ac:spMk id="10" creationId="{97DF198B-C161-55FD-B6B9-D2E10EEA8A9A}"/>
          </ac:spMkLst>
        </pc:spChg>
        <pc:spChg chg="add mod">
          <ac:chgData name="Shabreen Khan" userId="6e242df9dfadd6c8" providerId="LiveId" clId="{A4B9FE81-905D-4A8F-9CD4-40368C0DB5D0}" dt="2026-09-30T06:35:07.181" v="585" actId="14100"/>
          <ac:spMkLst>
            <pc:docMk/>
            <pc:sldMk cId="687564839" sldId="446"/>
            <ac:spMk id="14" creationId="{7746D370-8FF8-8D7C-DCDB-CBEDEBD15FF3}"/>
          </ac:spMkLst>
        </pc:spChg>
        <pc:spChg chg="add mod">
          <ac:chgData name="Shabreen Khan" userId="6e242df9dfadd6c8" providerId="LiveId" clId="{A4B9FE81-905D-4A8F-9CD4-40368C0DB5D0}" dt="2026-09-30T06:35:23.198" v="587" actId="1076"/>
          <ac:spMkLst>
            <pc:docMk/>
            <pc:sldMk cId="687564839" sldId="446"/>
            <ac:spMk id="16" creationId="{605ABC15-8014-0990-C34D-877A1BD7234B}"/>
          </ac:spMkLst>
        </pc:spChg>
        <pc:picChg chg="add del mod">
          <ac:chgData name="Shabreen Khan" userId="6e242df9dfadd6c8" providerId="LiveId" clId="{A4B9FE81-905D-4A8F-9CD4-40368C0DB5D0}" dt="2026-09-30T06:22:18.781" v="480" actId="478"/>
          <ac:picMkLst>
            <pc:docMk/>
            <pc:sldMk cId="687564839" sldId="446"/>
            <ac:picMk id="9" creationId="{F0D3CAD0-9D51-F326-183F-1268BA36D596}"/>
          </ac:picMkLst>
        </pc:picChg>
        <pc:picChg chg="add mod">
          <ac:chgData name="Shabreen Khan" userId="6e242df9dfadd6c8" providerId="LiveId" clId="{A4B9FE81-905D-4A8F-9CD4-40368C0DB5D0}" dt="2026-09-30T06:35:25.580" v="588" actId="1076"/>
          <ac:picMkLst>
            <pc:docMk/>
            <pc:sldMk cId="687564839" sldId="446"/>
            <ac:picMk id="12" creationId="{7A11A165-07D3-D5A3-03AE-144B53B0178C}"/>
          </ac:picMkLst>
        </pc:picChg>
      </pc:sldChg>
      <pc:sldChg chg="addSp delSp modSp new mod ord">
        <pc:chgData name="Shabreen Khan" userId="6e242df9dfadd6c8" providerId="LiveId" clId="{A4B9FE81-905D-4A8F-9CD4-40368C0DB5D0}" dt="2026-09-30T06:18:59.574" v="463" actId="1076"/>
        <pc:sldMkLst>
          <pc:docMk/>
          <pc:sldMk cId="3262490451" sldId="447"/>
        </pc:sldMkLst>
        <pc:spChg chg="add mod">
          <ac:chgData name="Shabreen Khan" userId="6e242df9dfadd6c8" providerId="LiveId" clId="{A4B9FE81-905D-4A8F-9CD4-40368C0DB5D0}" dt="2026-09-30T06:18:08.450" v="434" actId="1076"/>
          <ac:spMkLst>
            <pc:docMk/>
            <pc:sldMk cId="3262490451" sldId="447"/>
            <ac:spMk id="3" creationId="{042310F4-8057-BBC6-48D0-16A1767E8EAE}"/>
          </ac:spMkLst>
        </pc:spChg>
        <pc:spChg chg="add mod">
          <ac:chgData name="Shabreen Khan" userId="6e242df9dfadd6c8" providerId="LiveId" clId="{A4B9FE81-905D-4A8F-9CD4-40368C0DB5D0}" dt="2026-09-27T04:22:43.397" v="161" actId="1076"/>
          <ac:spMkLst>
            <pc:docMk/>
            <pc:sldMk cId="3262490451" sldId="447"/>
            <ac:spMk id="5" creationId="{FE99FDE7-605A-44E2-BEE6-BDE179E7CD8B}"/>
          </ac:spMkLst>
        </pc:spChg>
        <pc:spChg chg="add mod">
          <ac:chgData name="Shabreen Khan" userId="6e242df9dfadd6c8" providerId="LiveId" clId="{A4B9FE81-905D-4A8F-9CD4-40368C0DB5D0}" dt="2026-09-30T06:18:34.830" v="447" actId="1076"/>
          <ac:spMkLst>
            <pc:docMk/>
            <pc:sldMk cId="3262490451" sldId="447"/>
            <ac:spMk id="6" creationId="{4351A369-67CF-13F6-BAA1-A94F9277309C}"/>
          </ac:spMkLst>
        </pc:spChg>
        <pc:spChg chg="add mod">
          <ac:chgData name="Shabreen Khan" userId="6e242df9dfadd6c8" providerId="LiveId" clId="{A4B9FE81-905D-4A8F-9CD4-40368C0DB5D0}" dt="2026-09-30T06:18:59.574" v="463" actId="1076"/>
          <ac:spMkLst>
            <pc:docMk/>
            <pc:sldMk cId="3262490451" sldId="447"/>
            <ac:spMk id="8" creationId="{93E99062-B979-DA9E-1642-6F74FE282273}"/>
          </ac:spMkLst>
        </pc:spChg>
        <pc:spChg chg="add del mod">
          <ac:chgData name="Shabreen Khan" userId="6e242df9dfadd6c8" providerId="LiveId" clId="{A4B9FE81-905D-4A8F-9CD4-40368C0DB5D0}" dt="2026-09-30T06:15:36.026" v="427" actId="478"/>
          <ac:spMkLst>
            <pc:docMk/>
            <pc:sldMk cId="3262490451" sldId="447"/>
            <ac:spMk id="9" creationId="{94D81D58-3A43-2103-3B8A-B9F94F91F148}"/>
          </ac:spMkLst>
        </pc:spChg>
        <pc:picChg chg="add mod modCrop">
          <ac:chgData name="Shabreen Khan" userId="6e242df9dfadd6c8" providerId="LiveId" clId="{A4B9FE81-905D-4A8F-9CD4-40368C0DB5D0}" dt="2026-09-30T06:16:25.633" v="432" actId="1440"/>
          <ac:picMkLst>
            <pc:docMk/>
            <pc:sldMk cId="3262490451" sldId="447"/>
            <ac:picMk id="7" creationId="{EDD652E1-0461-D313-FE49-60D1B3CDB9DF}"/>
          </ac:picMkLst>
        </pc:picChg>
      </pc:sldChg>
      <pc:sldChg chg="addSp delSp modSp new mod">
        <pc:chgData name="Shabreen Khan" userId="6e242df9dfadd6c8" providerId="LiveId" clId="{A4B9FE81-905D-4A8F-9CD4-40368C0DB5D0}" dt="2026-09-30T06:21:35.369" v="477" actId="1076"/>
        <pc:sldMkLst>
          <pc:docMk/>
          <pc:sldMk cId="4080615734" sldId="448"/>
        </pc:sldMkLst>
        <pc:spChg chg="add mod">
          <ac:chgData name="Shabreen Khan" userId="6e242df9dfadd6c8" providerId="LiveId" clId="{A4B9FE81-905D-4A8F-9CD4-40368C0DB5D0}" dt="2026-09-30T06:21:04.704" v="472" actId="1076"/>
          <ac:spMkLst>
            <pc:docMk/>
            <pc:sldMk cId="4080615734" sldId="448"/>
            <ac:spMk id="3" creationId="{80134C51-2C42-5ADE-B595-EFEA93E5E859}"/>
          </ac:spMkLst>
        </pc:spChg>
        <pc:spChg chg="add mod">
          <ac:chgData name="Shabreen Khan" userId="6e242df9dfadd6c8" providerId="LiveId" clId="{A4B9FE81-905D-4A8F-9CD4-40368C0DB5D0}" dt="2026-09-30T06:21:31.635" v="476" actId="1076"/>
          <ac:spMkLst>
            <pc:docMk/>
            <pc:sldMk cId="4080615734" sldId="448"/>
            <ac:spMk id="6" creationId="{20AB80C8-E709-44C2-BA52-5E890D94B332}"/>
          </ac:spMkLst>
        </pc:spChg>
        <pc:spChg chg="add mod">
          <ac:chgData name="Shabreen Khan" userId="6e242df9dfadd6c8" providerId="LiveId" clId="{A4B9FE81-905D-4A8F-9CD4-40368C0DB5D0}" dt="2026-09-27T04:25:15.547" v="208" actId="1076"/>
          <ac:spMkLst>
            <pc:docMk/>
            <pc:sldMk cId="4080615734" sldId="448"/>
            <ac:spMk id="7" creationId="{A14AB768-B3F4-BF4E-D3FA-7194601129E8}"/>
          </ac:spMkLst>
        </pc:spChg>
        <pc:spChg chg="add del mod">
          <ac:chgData name="Shabreen Khan" userId="6e242df9dfadd6c8" providerId="LiveId" clId="{A4B9FE81-905D-4A8F-9CD4-40368C0DB5D0}" dt="2026-09-30T06:19:12.041" v="464" actId="478"/>
          <ac:spMkLst>
            <pc:docMk/>
            <pc:sldMk cId="4080615734" sldId="448"/>
            <ac:spMk id="8" creationId="{AB0674AE-AC16-D3BB-9071-294C10CA1672}"/>
          </ac:spMkLst>
        </pc:spChg>
        <pc:spChg chg="add mod">
          <ac:chgData name="Shabreen Khan" userId="6e242df9dfadd6c8" providerId="LiveId" clId="{A4B9FE81-905D-4A8F-9CD4-40368C0DB5D0}" dt="2026-09-30T06:21:35.369" v="477" actId="1076"/>
          <ac:spMkLst>
            <pc:docMk/>
            <pc:sldMk cId="4080615734" sldId="448"/>
            <ac:spMk id="11" creationId="{5AEDFC9F-F2A7-69EE-6E22-93111590F927}"/>
          </ac:spMkLst>
        </pc:spChg>
        <pc:picChg chg="add mod modCrop">
          <ac:chgData name="Shabreen Khan" userId="6e242df9dfadd6c8" providerId="LiveId" clId="{A4B9FE81-905D-4A8F-9CD4-40368C0DB5D0}" dt="2026-09-30T06:19:46.807" v="470" actId="1440"/>
          <ac:picMkLst>
            <pc:docMk/>
            <pc:sldMk cId="4080615734" sldId="448"/>
            <ac:picMk id="10" creationId="{FE29BB63-21D6-D981-9E94-854C361D0A2B}"/>
          </ac:picMkLst>
        </pc:picChg>
      </pc:sldChg>
      <pc:sldChg chg="addSp delSp modSp new mod ord">
        <pc:chgData name="Shabreen Khan" userId="6e242df9dfadd6c8" providerId="LiveId" clId="{A4B9FE81-905D-4A8F-9CD4-40368C0DB5D0}" dt="2026-09-30T06:30:17.200" v="552" actId="1076"/>
        <pc:sldMkLst>
          <pc:docMk/>
          <pc:sldMk cId="298010204" sldId="449"/>
        </pc:sldMkLst>
        <pc:spChg chg="add mod">
          <ac:chgData name="Shabreen Khan" userId="6e242df9dfadd6c8" providerId="LiveId" clId="{A4B9FE81-905D-4A8F-9CD4-40368C0DB5D0}" dt="2026-09-30T06:29:25.403" v="542" actId="14100"/>
          <ac:spMkLst>
            <pc:docMk/>
            <pc:sldMk cId="298010204" sldId="449"/>
            <ac:spMk id="3" creationId="{D4293812-4E63-E075-D530-70127C6BC4E0}"/>
          </ac:spMkLst>
        </pc:spChg>
        <pc:spChg chg="add mod">
          <ac:chgData name="Shabreen Khan" userId="6e242df9dfadd6c8" providerId="LiveId" clId="{A4B9FE81-905D-4A8F-9CD4-40368C0DB5D0}" dt="2026-09-30T06:28:31.310" v="532" actId="1076"/>
          <ac:spMkLst>
            <pc:docMk/>
            <pc:sldMk cId="298010204" sldId="449"/>
            <ac:spMk id="5" creationId="{6F456A14-BA81-36EE-3584-EF5E5D15170A}"/>
          </ac:spMkLst>
        </pc:spChg>
        <pc:spChg chg="add mod">
          <ac:chgData name="Shabreen Khan" userId="6e242df9dfadd6c8" providerId="LiveId" clId="{A4B9FE81-905D-4A8F-9CD4-40368C0DB5D0}" dt="2026-09-27T04:32:00.830" v="326" actId="1076"/>
          <ac:spMkLst>
            <pc:docMk/>
            <pc:sldMk cId="298010204" sldId="449"/>
            <ac:spMk id="6" creationId="{257BDBD0-B809-5F51-B34F-368AE4EC729F}"/>
          </ac:spMkLst>
        </pc:spChg>
        <pc:spChg chg="add mod">
          <ac:chgData name="Shabreen Khan" userId="6e242df9dfadd6c8" providerId="LiveId" clId="{A4B9FE81-905D-4A8F-9CD4-40368C0DB5D0}" dt="2026-09-30T06:29:06.580" v="537" actId="14100"/>
          <ac:spMkLst>
            <pc:docMk/>
            <pc:sldMk cId="298010204" sldId="449"/>
            <ac:spMk id="9" creationId="{8CFF4667-C0A8-57D6-3487-9F6BB18AC493}"/>
          </ac:spMkLst>
        </pc:spChg>
        <pc:spChg chg="add del mod">
          <ac:chgData name="Shabreen Khan" userId="6e242df9dfadd6c8" providerId="LiveId" clId="{A4B9FE81-905D-4A8F-9CD4-40368C0DB5D0}" dt="2026-09-30T06:25:00.022" v="502" actId="478"/>
          <ac:spMkLst>
            <pc:docMk/>
            <pc:sldMk cId="298010204" sldId="449"/>
            <ac:spMk id="10" creationId="{0534C7EF-63E7-718B-BA6F-CADBD310F48B}"/>
          </ac:spMkLst>
        </pc:spChg>
        <pc:spChg chg="add mod">
          <ac:chgData name="Shabreen Khan" userId="6e242df9dfadd6c8" providerId="LiveId" clId="{A4B9FE81-905D-4A8F-9CD4-40368C0DB5D0}" dt="2026-09-30T06:29:33.354" v="544" actId="1076"/>
          <ac:spMkLst>
            <pc:docMk/>
            <pc:sldMk cId="298010204" sldId="449"/>
            <ac:spMk id="12" creationId="{7E773C3B-2F28-3DD7-9312-23CD5622B63A}"/>
          </ac:spMkLst>
        </pc:spChg>
        <pc:spChg chg="add del mod">
          <ac:chgData name="Shabreen Khan" userId="6e242df9dfadd6c8" providerId="LiveId" clId="{A4B9FE81-905D-4A8F-9CD4-40368C0DB5D0}" dt="2026-09-30T06:25:05.065" v="503" actId="478"/>
          <ac:spMkLst>
            <pc:docMk/>
            <pc:sldMk cId="298010204" sldId="449"/>
            <ac:spMk id="15" creationId="{07568BDC-2446-D061-DB9C-EAB19FA385F9}"/>
          </ac:spMkLst>
        </pc:spChg>
        <pc:spChg chg="add mod">
          <ac:chgData name="Shabreen Khan" userId="6e242df9dfadd6c8" providerId="LiveId" clId="{A4B9FE81-905D-4A8F-9CD4-40368C0DB5D0}" dt="2026-09-30T06:29:57.584" v="546" actId="1076"/>
          <ac:spMkLst>
            <pc:docMk/>
            <pc:sldMk cId="298010204" sldId="449"/>
            <ac:spMk id="16" creationId="{CF97FB41-9E69-0FB4-AD0A-526E11F99D62}"/>
          </ac:spMkLst>
        </pc:spChg>
        <pc:spChg chg="add mod">
          <ac:chgData name="Shabreen Khan" userId="6e242df9dfadd6c8" providerId="LiveId" clId="{A4B9FE81-905D-4A8F-9CD4-40368C0DB5D0}" dt="2026-09-30T06:30:17.200" v="552" actId="1076"/>
          <ac:spMkLst>
            <pc:docMk/>
            <pc:sldMk cId="298010204" sldId="449"/>
            <ac:spMk id="18" creationId="{20B8E532-988A-A58C-0183-9C94AF122E9B}"/>
          </ac:spMkLst>
        </pc:spChg>
        <pc:picChg chg="add mod modCrop">
          <ac:chgData name="Shabreen Khan" userId="6e242df9dfadd6c8" providerId="LiveId" clId="{A4B9FE81-905D-4A8F-9CD4-40368C0DB5D0}" dt="2026-09-30T06:30:00.889" v="547" actId="1076"/>
          <ac:picMkLst>
            <pc:docMk/>
            <pc:sldMk cId="298010204" sldId="449"/>
            <ac:picMk id="8" creationId="{19414A0A-5803-4BE8-3637-5DC5D317D68E}"/>
          </ac:picMkLst>
        </pc:picChg>
        <pc:picChg chg="add mod modCrop">
          <ac:chgData name="Shabreen Khan" userId="6e242df9dfadd6c8" providerId="LiveId" clId="{A4B9FE81-905D-4A8F-9CD4-40368C0DB5D0}" dt="2026-09-30T06:30:03.584" v="548" actId="1076"/>
          <ac:picMkLst>
            <pc:docMk/>
            <pc:sldMk cId="298010204" sldId="449"/>
            <ac:picMk id="13" creationId="{FAB4ADEE-1C74-6FB4-E994-B87C6B6E3E99}"/>
          </ac:picMkLst>
        </pc:picChg>
      </pc:sldChg>
      <pc:sldChg chg="addSp delSp modSp new mod">
        <pc:chgData name="Shabreen Khan" userId="6e242df9dfadd6c8" providerId="LiveId" clId="{A4B9FE81-905D-4A8F-9CD4-40368C0DB5D0}" dt="2026-09-30T06:34:03.377" v="582" actId="20577"/>
        <pc:sldMkLst>
          <pc:docMk/>
          <pc:sldMk cId="582772413" sldId="450"/>
        </pc:sldMkLst>
        <pc:spChg chg="add mod">
          <ac:chgData name="Shabreen Khan" userId="6e242df9dfadd6c8" providerId="LiveId" clId="{A4B9FE81-905D-4A8F-9CD4-40368C0DB5D0}" dt="2026-09-30T06:34:03.377" v="582" actId="20577"/>
          <ac:spMkLst>
            <pc:docMk/>
            <pc:sldMk cId="582772413" sldId="450"/>
            <ac:spMk id="3" creationId="{5DDA8CB1-9220-0AB0-73CF-FA51F93C37EA}"/>
          </ac:spMkLst>
        </pc:spChg>
        <pc:spChg chg="del">
          <ac:chgData name="Shabreen Khan" userId="6e242df9dfadd6c8" providerId="LiveId" clId="{A4B9FE81-905D-4A8F-9CD4-40368C0DB5D0}" dt="2026-09-30T06:31:08.048" v="563" actId="478"/>
          <ac:spMkLst>
            <pc:docMk/>
            <pc:sldMk cId="582772413" sldId="450"/>
            <ac:spMk id="4" creationId="{32768215-F0F0-B0CC-5D0B-D5AD29764938}"/>
          </ac:spMkLst>
        </pc:spChg>
        <pc:spChg chg="add del mod">
          <ac:chgData name="Shabreen Khan" userId="6e242df9dfadd6c8" providerId="LiveId" clId="{A4B9FE81-905D-4A8F-9CD4-40368C0DB5D0}" dt="2026-09-30T06:30:34.498" v="554" actId="478"/>
          <ac:spMkLst>
            <pc:docMk/>
            <pc:sldMk cId="582772413" sldId="450"/>
            <ac:spMk id="6" creationId="{00411925-8A83-D8BD-3E7A-DE3161FEF318}"/>
          </ac:spMkLst>
        </pc:spChg>
        <pc:spChg chg="add mod">
          <ac:chgData name="Shabreen Khan" userId="6e242df9dfadd6c8" providerId="LiveId" clId="{A4B9FE81-905D-4A8F-9CD4-40368C0DB5D0}" dt="2026-09-30T06:33:49.207" v="581" actId="1076"/>
          <ac:spMkLst>
            <pc:docMk/>
            <pc:sldMk cId="582772413" sldId="450"/>
            <ac:spMk id="7" creationId="{EFD3684E-9422-5FEE-E68B-538D8FC27F8F}"/>
          </ac:spMkLst>
        </pc:spChg>
        <pc:spChg chg="add del mod">
          <ac:chgData name="Shabreen Khan" userId="6e242df9dfadd6c8" providerId="LiveId" clId="{A4B9FE81-905D-4A8F-9CD4-40368C0DB5D0}" dt="2026-09-30T06:30:26.881" v="553" actId="478"/>
          <ac:spMkLst>
            <pc:docMk/>
            <pc:sldMk cId="582772413" sldId="450"/>
            <ac:spMk id="13" creationId="{B70C49C6-FAAC-2565-8053-F6713F9EA56B}"/>
          </ac:spMkLst>
        </pc:spChg>
        <pc:picChg chg="add del mod">
          <ac:chgData name="Shabreen Khan" userId="6e242df9dfadd6c8" providerId="LiveId" clId="{A4B9FE81-905D-4A8F-9CD4-40368C0DB5D0}" dt="2026-09-30T06:30:36.653" v="555" actId="478"/>
          <ac:picMkLst>
            <pc:docMk/>
            <pc:sldMk cId="582772413" sldId="450"/>
            <ac:picMk id="9" creationId="{3C4CA4F2-F0BE-2F9A-A3B9-625979A8B5A2}"/>
          </ac:picMkLst>
        </pc:picChg>
        <pc:picChg chg="add mod">
          <ac:chgData name="Shabreen Khan" userId="6e242df9dfadd6c8" providerId="LiveId" clId="{A4B9FE81-905D-4A8F-9CD4-40368C0DB5D0}" dt="2026-09-30T06:33:13.697" v="578" actId="1076"/>
          <ac:picMkLst>
            <pc:docMk/>
            <pc:sldMk cId="582772413" sldId="450"/>
            <ac:picMk id="11" creationId="{AA6BDB2C-985E-A036-6080-0617DFC59AAF}"/>
          </ac:picMkLst>
        </pc:picChg>
      </pc:sldChg>
      <pc:sldChg chg="addSp delSp modSp new del mod">
        <pc:chgData name="Shabreen Khan" userId="6e242df9dfadd6c8" providerId="LiveId" clId="{A4B9FE81-905D-4A8F-9CD4-40368C0DB5D0}" dt="2026-09-30T06:41:37.062" v="597" actId="47"/>
        <pc:sldMkLst>
          <pc:docMk/>
          <pc:sldMk cId="1850998132" sldId="451"/>
        </pc:sldMkLst>
        <pc:spChg chg="del mod">
          <ac:chgData name="Shabreen Khan" userId="6e242df9dfadd6c8" providerId="LiveId" clId="{A4B9FE81-905D-4A8F-9CD4-40368C0DB5D0}" dt="2026-09-30T06:35:38.756" v="591" actId="478"/>
          <ac:spMkLst>
            <pc:docMk/>
            <pc:sldMk cId="1850998132" sldId="451"/>
            <ac:spMk id="2" creationId="{3F8E0735-507F-5A60-4E77-B2A25321A5FD}"/>
          </ac:spMkLst>
        </pc:spChg>
        <pc:spChg chg="del">
          <ac:chgData name="Shabreen Khan" userId="6e242df9dfadd6c8" providerId="LiveId" clId="{A4B9FE81-905D-4A8F-9CD4-40368C0DB5D0}" dt="2026-09-30T06:35:53.374" v="592" actId="478"/>
          <ac:spMkLst>
            <pc:docMk/>
            <pc:sldMk cId="1850998132" sldId="451"/>
            <ac:spMk id="3" creationId="{6933C0AE-2366-3CD7-D039-3733BC399569}"/>
          </ac:spMkLst>
        </pc:spChg>
        <pc:spChg chg="del">
          <ac:chgData name="Shabreen Khan" userId="6e242df9dfadd6c8" providerId="LiveId" clId="{A4B9FE81-905D-4A8F-9CD4-40368C0DB5D0}" dt="2026-09-30T06:35:58.177" v="593" actId="478"/>
          <ac:spMkLst>
            <pc:docMk/>
            <pc:sldMk cId="1850998132" sldId="451"/>
            <ac:spMk id="4" creationId="{600F0515-EDD7-B229-6915-2ECBC88510AB}"/>
          </ac:spMkLst>
        </pc:spChg>
        <pc:spChg chg="add mod">
          <ac:chgData name="Shabreen Khan" userId="6e242df9dfadd6c8" providerId="LiveId" clId="{A4B9FE81-905D-4A8F-9CD4-40368C0DB5D0}" dt="2026-09-30T06:40:02.325" v="596" actId="14100"/>
          <ac:spMkLst>
            <pc:docMk/>
            <pc:sldMk cId="1850998132" sldId="451"/>
            <ac:spMk id="6" creationId="{06F00A20-7CC9-B8DD-0744-5884A15A66C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9/30/2026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9/30/2026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30-09-2026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30-09-2026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30-09-2026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pixabay.com/en/thank-you-polaroid-letters-2490552/" TargetMode="External"/><Relationship Id="rId2" Type="http://schemas.openxmlformats.org/officeDocument/2006/relationships/image" Target="../media/image2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263352" y="1562721"/>
            <a:ext cx="10696612" cy="2428892"/>
          </a:xfrm>
          <a:prstGeom prst="rect">
            <a:avLst/>
          </a:prstGeom>
        </p:spPr>
        <p:txBody>
          <a:bodyPr vert="horz" lIns="91440" tIns="45720" rIns="91440" bIns="45720" rtlCol="0" anchor="b">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Tw Cen MT" pitchFamily="34" charset="0"/>
                <a:ea typeface="+mj-ea"/>
                <a:cs typeface="+mj-cs"/>
              </a:rPr>
              <a:t> </a:t>
            </a:r>
            <a:br>
              <a:rPr kumimoji="0" lang="en-US" sz="4400" b="0" i="0" u="none" strike="noStrike" kern="1200" cap="none" spc="0" normalizeH="0" baseline="0" noProof="0" dirty="0">
                <a:ln>
                  <a:noFill/>
                </a:ln>
                <a:solidFill>
                  <a:srgbClr val="FF0000"/>
                </a:solidFill>
                <a:effectLst/>
                <a:uLnTx/>
                <a:uFillTx/>
                <a:latin typeface="Tw Cen MT" pitchFamily="34" charset="0"/>
                <a:ea typeface="+mj-ea"/>
                <a:cs typeface="+mj-cs"/>
              </a:rPr>
            </a:br>
            <a:endParaRPr kumimoji="0" lang="en-IN" sz="4400" b="0" i="0" u="none" strike="noStrike" kern="1200" cap="none" spc="0" normalizeH="0" baseline="0" noProof="0" dirty="0">
              <a:ln>
                <a:noFill/>
              </a:ln>
              <a:effectLst/>
              <a:uLnTx/>
              <a:uFillTx/>
              <a:latin typeface="Tw Cen MT" pitchFamily="34" charset="0"/>
              <a:ea typeface="+mj-ea"/>
              <a:cs typeface="+mj-cs"/>
            </a:endParaRPr>
          </a:p>
        </p:txBody>
      </p:sp>
      <p:sp>
        <p:nvSpPr>
          <p:cNvPr id="10" name="TextBox 9">
            <a:extLst>
              <a:ext uri="{FF2B5EF4-FFF2-40B4-BE49-F238E27FC236}">
                <a16:creationId xmlns:a16="http://schemas.microsoft.com/office/drawing/2014/main" id="{FD9E1C7A-6C0F-1E70-EC9F-1897C092DFF3}"/>
              </a:ext>
            </a:extLst>
          </p:cNvPr>
          <p:cNvSpPr txBox="1"/>
          <p:nvPr/>
        </p:nvSpPr>
        <p:spPr>
          <a:xfrm>
            <a:off x="911424" y="2568870"/>
            <a:ext cx="10657184" cy="1569660"/>
          </a:xfrm>
          <a:prstGeom prst="rect">
            <a:avLst/>
          </a:prstGeom>
          <a:noFill/>
        </p:spPr>
        <p:txBody>
          <a:bodyPr wrap="square" rtlCol="0">
            <a:spAutoFit/>
          </a:bodyPr>
          <a:lstStyle/>
          <a:p>
            <a:pPr algn="ctr"/>
            <a:r>
              <a:rPr sz="3200" b="1" dirty="0"/>
              <a:t>STUDENT PERFORMANCE DATA
ANALYSIS SYSTEM</a:t>
            </a:r>
            <a:endParaRPr lang="en-US" sz="3200" b="1" dirty="0"/>
          </a:p>
          <a:p>
            <a:pPr algn="ctr"/>
            <a:r>
              <a:rPr lang="en-US" sz="3200" b="1" dirty="0"/>
              <a:t>Review1</a:t>
            </a:r>
            <a:endParaRPr sz="3200" b="1" dirty="0"/>
          </a:p>
        </p:txBody>
      </p:sp>
      <p:sp>
        <p:nvSpPr>
          <p:cNvPr id="2" name="TextBox 1">
            <a:extLst>
              <a:ext uri="{FF2B5EF4-FFF2-40B4-BE49-F238E27FC236}">
                <a16:creationId xmlns:a16="http://schemas.microsoft.com/office/drawing/2014/main" id="{24389E1D-C2AB-F603-3CA3-87DB4BF1C1AA}"/>
              </a:ext>
            </a:extLst>
          </p:cNvPr>
          <p:cNvSpPr txBox="1"/>
          <p:nvPr/>
        </p:nvSpPr>
        <p:spPr>
          <a:xfrm>
            <a:off x="1055440" y="4365066"/>
            <a:ext cx="3535705" cy="461665"/>
          </a:xfrm>
          <a:prstGeom prst="rect">
            <a:avLst/>
          </a:prstGeom>
          <a:noFill/>
        </p:spPr>
        <p:txBody>
          <a:bodyPr wrap="square" rtlCol="0">
            <a:spAutoFit/>
          </a:bodyPr>
          <a:lstStyle/>
          <a:p>
            <a:pPr algn="ctr"/>
            <a:r>
              <a:rPr sz="2400" b="1" dirty="0">
                <a:solidFill>
                  <a:schemeClr val="accent1"/>
                </a:solidFill>
              </a:rPr>
              <a:t>PRESENTED BY</a:t>
            </a:r>
          </a:p>
        </p:txBody>
      </p:sp>
      <p:sp>
        <p:nvSpPr>
          <p:cNvPr id="3" name="TextBox 2">
            <a:extLst>
              <a:ext uri="{FF2B5EF4-FFF2-40B4-BE49-F238E27FC236}">
                <a16:creationId xmlns:a16="http://schemas.microsoft.com/office/drawing/2014/main" id="{9F213753-4CA3-3666-9E10-533F5C1CA7E2}"/>
              </a:ext>
            </a:extLst>
          </p:cNvPr>
          <p:cNvSpPr txBox="1"/>
          <p:nvPr/>
        </p:nvSpPr>
        <p:spPr>
          <a:xfrm>
            <a:off x="-600744" y="4835467"/>
            <a:ext cx="7416824" cy="1323439"/>
          </a:xfrm>
          <a:prstGeom prst="rect">
            <a:avLst/>
          </a:prstGeom>
          <a:noFill/>
        </p:spPr>
        <p:txBody>
          <a:bodyPr wrap="square" rtlCol="0">
            <a:spAutoFit/>
          </a:bodyPr>
          <a:lstStyle/>
          <a:p>
            <a:pPr marL="342900" indent="-342900" algn="ctr">
              <a:buFont typeface="Wingdings" panose="05000000000000000000" pitchFamily="2" charset="2"/>
              <a:buChar char="q"/>
            </a:pPr>
            <a:r>
              <a:rPr lang="en-IN" sz="2000" b="1" dirty="0"/>
              <a:t>S. Moreblessing       25B11CSA74</a:t>
            </a:r>
          </a:p>
          <a:p>
            <a:pPr marL="342900" indent="-342900" algn="ctr">
              <a:buFont typeface="Wingdings" panose="05000000000000000000" pitchFamily="2" charset="2"/>
              <a:buChar char="q"/>
            </a:pPr>
            <a:r>
              <a:rPr lang="en-IN" sz="2000" b="1" dirty="0"/>
              <a:t>D. Praneela                25B11CS209</a:t>
            </a:r>
          </a:p>
          <a:p>
            <a:pPr marL="342900" indent="-342900" algn="ctr">
              <a:buFont typeface="Wingdings" panose="05000000000000000000" pitchFamily="2" charset="2"/>
              <a:buChar char="q"/>
            </a:pPr>
            <a:r>
              <a:rPr lang="en-IN" sz="2000" b="1" dirty="0"/>
              <a:t>G. Sai Sri Keerthi      25B11CS261</a:t>
            </a:r>
          </a:p>
          <a:p>
            <a:pPr marL="342900" indent="-342900" algn="ctr">
              <a:buFont typeface="Wingdings" panose="05000000000000000000" pitchFamily="2" charset="2"/>
              <a:buChar char="q"/>
            </a:pPr>
            <a:r>
              <a:rPr lang="en-IN" sz="2000" b="1" dirty="0"/>
              <a:t>K. Shabreen              25B11CS429</a:t>
            </a:r>
          </a:p>
        </p:txBody>
      </p:sp>
      <p:sp>
        <p:nvSpPr>
          <p:cNvPr id="6" name="Title 5"/>
          <p:cNvSpPr>
            <a:spLocks noGrp="1"/>
          </p:cNvSpPr>
          <p:nvPr>
            <p:ph type="ctrTitle"/>
          </p:nvPr>
        </p:nvSpPr>
        <p:spPr>
          <a:xfrm>
            <a:off x="2799604" y="1645750"/>
            <a:ext cx="7236296" cy="864096"/>
          </a:xfrm>
        </p:spPr>
        <p:txBody>
          <a:bodyPr>
            <a:normAutofit/>
          </a:bodyPr>
          <a:lstStyle/>
          <a:p>
            <a:r>
              <a:rPr lang="en-US" sz="4000" b="1" dirty="0">
                <a:solidFill>
                  <a:schemeClr val="accent1"/>
                </a:solidFill>
                <a:latin typeface="+mn-lt"/>
              </a:rPr>
              <a:t>DATA ANALYSIS AND ESSENTIALS</a:t>
            </a:r>
          </a:p>
        </p:txBody>
      </p:sp>
      <p:pic>
        <p:nvPicPr>
          <p:cNvPr id="7" name="Picture 6" descr="3D graph graphic">
            <a:extLst>
              <a:ext uri="{FF2B5EF4-FFF2-40B4-BE49-F238E27FC236}">
                <a16:creationId xmlns:a16="http://schemas.microsoft.com/office/drawing/2014/main" id="{81316683-0F72-9903-A38A-047D7F1D8A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1737" y="3928072"/>
            <a:ext cx="4389666" cy="2924943"/>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35AD1E1-47FD-B8C4-5C47-C24950A1DB81}"/>
              </a:ext>
            </a:extLst>
          </p:cNvPr>
          <p:cNvSpPr>
            <a:spLocks noGrp="1"/>
          </p:cNvSpPr>
          <p:nvPr>
            <p:ph type="sldNum" sz="quarter" idx="13"/>
          </p:nvPr>
        </p:nvSpPr>
        <p:spPr/>
        <p:txBody>
          <a:bodyPr/>
          <a:lstStyle/>
          <a:p>
            <a:fld id="{326EF2E3-409D-4D76-AD02-397A36B0DAF9}" type="slidenum">
              <a:rPr lang="en-US" smtClean="0"/>
              <a:pPr/>
              <a:t>2</a:t>
            </a:fld>
            <a:endParaRPr lang="en-US"/>
          </a:p>
        </p:txBody>
      </p:sp>
      <p:sp>
        <p:nvSpPr>
          <p:cNvPr id="8" name="TextBox 7">
            <a:extLst>
              <a:ext uri="{FF2B5EF4-FFF2-40B4-BE49-F238E27FC236}">
                <a16:creationId xmlns:a16="http://schemas.microsoft.com/office/drawing/2014/main" id="{B57496EE-255E-B663-30D9-482811388FF8}"/>
              </a:ext>
            </a:extLst>
          </p:cNvPr>
          <p:cNvSpPr txBox="1"/>
          <p:nvPr/>
        </p:nvSpPr>
        <p:spPr>
          <a:xfrm>
            <a:off x="263352" y="1340768"/>
            <a:ext cx="7488832" cy="5324535"/>
          </a:xfrm>
          <a:prstGeom prst="rect">
            <a:avLst/>
          </a:prstGeom>
          <a:noFill/>
        </p:spPr>
        <p:txBody>
          <a:bodyPr wrap="square">
            <a:spAutoFit/>
          </a:bodyPr>
          <a:lstStyle/>
          <a:p>
            <a:pPr>
              <a:buNone/>
            </a:pPr>
            <a:r>
              <a:rPr lang="en-IN" sz="2000" dirty="0"/>
              <a:t>Student Performance Data Analysis System is a data analysis project designed to </a:t>
            </a:r>
            <a:r>
              <a:rPr lang="en-IN" sz="2000" dirty="0" err="1"/>
              <a:t>analyze</a:t>
            </a:r>
            <a:r>
              <a:rPr lang="en-IN" sz="2000" dirty="0"/>
              <a:t> and understand students' academic performance using Python, Pandas, and Matplotlib.</a:t>
            </a:r>
          </a:p>
          <a:p>
            <a:pPr>
              <a:buNone/>
            </a:pPr>
            <a:endParaRPr lang="en-IN" sz="2000" dirty="0"/>
          </a:p>
          <a:p>
            <a:pPr>
              <a:buNone/>
            </a:pPr>
            <a:r>
              <a:rPr lang="en-IN" sz="2000" dirty="0"/>
              <a:t>📊 Collects and manages student performance data.</a:t>
            </a:r>
          </a:p>
          <a:p>
            <a:pPr>
              <a:buNone/>
            </a:pPr>
            <a:endParaRPr lang="en-IN" sz="2000" dirty="0"/>
          </a:p>
          <a:p>
            <a:pPr>
              <a:buNone/>
            </a:pPr>
            <a:r>
              <a:rPr lang="en-IN" sz="2000" dirty="0"/>
              <a:t>🔍 Performs sorting, filtering, and calculations on the dataset.</a:t>
            </a:r>
          </a:p>
          <a:p>
            <a:pPr>
              <a:buNone/>
            </a:pPr>
            <a:endParaRPr lang="en-IN" sz="2000" dirty="0"/>
          </a:p>
          <a:p>
            <a:pPr>
              <a:buNone/>
            </a:pPr>
            <a:r>
              <a:rPr lang="en-IN" sz="2000" dirty="0"/>
              <a:t>📈 Calculates important metrics such as total marks, average, and grade.</a:t>
            </a:r>
          </a:p>
          <a:p>
            <a:pPr>
              <a:buNone/>
            </a:pPr>
            <a:endParaRPr lang="en-IN" sz="2000" dirty="0"/>
          </a:p>
          <a:p>
            <a:pPr>
              <a:buNone/>
            </a:pPr>
            <a:r>
              <a:rPr lang="en-IN" sz="2000" dirty="0"/>
              <a:t>📉 Uses bar graphs and pie charts to visualize performance.</a:t>
            </a:r>
          </a:p>
          <a:p>
            <a:pPr>
              <a:buNone/>
            </a:pPr>
            <a:endParaRPr lang="en-IN" sz="2000" dirty="0"/>
          </a:p>
          <a:p>
            <a:pPr>
              <a:buNone/>
            </a:pPr>
            <a:r>
              <a:rPr lang="en-IN" sz="2000" dirty="0"/>
              <a:t>🎯 Helps identify top performers, weak areas, and overall performance trends.</a:t>
            </a:r>
          </a:p>
          <a:p>
            <a:pPr>
              <a:buNone/>
            </a:pPr>
            <a:endParaRPr lang="en-IN" sz="2000" dirty="0"/>
          </a:p>
          <a:p>
            <a:pPr>
              <a:buNone/>
            </a:pPr>
            <a:r>
              <a:rPr lang="en-IN" sz="2000" dirty="0"/>
              <a:t>📄 Generates meaningful reports from the </a:t>
            </a:r>
            <a:r>
              <a:rPr lang="en-IN" sz="2000" dirty="0" err="1"/>
              <a:t>analyzed</a:t>
            </a:r>
            <a:r>
              <a:rPr lang="en-IN" sz="2000" dirty="0"/>
              <a:t> data.</a:t>
            </a:r>
          </a:p>
        </p:txBody>
      </p:sp>
      <p:sp>
        <p:nvSpPr>
          <p:cNvPr id="9" name="TextBox 8">
            <a:extLst>
              <a:ext uri="{FF2B5EF4-FFF2-40B4-BE49-F238E27FC236}">
                <a16:creationId xmlns:a16="http://schemas.microsoft.com/office/drawing/2014/main" id="{FD23FA5D-82AC-AF27-CDEB-0212A0561DAC}"/>
              </a:ext>
            </a:extLst>
          </p:cNvPr>
          <p:cNvSpPr txBox="1"/>
          <p:nvPr/>
        </p:nvSpPr>
        <p:spPr>
          <a:xfrm>
            <a:off x="4321764" y="319910"/>
            <a:ext cx="3548472" cy="707886"/>
          </a:xfrm>
          <a:prstGeom prst="rect">
            <a:avLst/>
          </a:prstGeom>
          <a:noFill/>
        </p:spPr>
        <p:txBody>
          <a:bodyPr wrap="none" rtlCol="0">
            <a:spAutoFit/>
          </a:bodyPr>
          <a:lstStyle/>
          <a:p>
            <a:r>
              <a:rPr lang="en-US" sz="4000" b="1" dirty="0">
                <a:solidFill>
                  <a:srgbClr val="7030A0"/>
                </a:solidFill>
              </a:rPr>
              <a:t>INTRODUCTION</a:t>
            </a:r>
            <a:endParaRPr lang="en-IN" sz="2800" b="1" dirty="0">
              <a:solidFill>
                <a:srgbClr val="7030A0"/>
              </a:solidFill>
            </a:endParaRPr>
          </a:p>
        </p:txBody>
      </p:sp>
      <p:pic>
        <p:nvPicPr>
          <p:cNvPr id="11" name="Picture 10">
            <a:extLst>
              <a:ext uri="{FF2B5EF4-FFF2-40B4-BE49-F238E27FC236}">
                <a16:creationId xmlns:a16="http://schemas.microsoft.com/office/drawing/2014/main" id="{55FB42AE-95B8-3C8A-D678-B542EEED4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2144" y="2187763"/>
            <a:ext cx="3888431" cy="3329469"/>
          </a:xfrm>
          <a:prstGeom prst="rect">
            <a:avLst/>
          </a:prstGeom>
          <a:solidFill>
            <a:srgbClr val="FFFFFF">
              <a:shade val="85000"/>
            </a:srgbClr>
          </a:solidFill>
          <a:ln w="190500" cap="rnd">
            <a:solidFill>
              <a:srgbClr val="FFFFFF"/>
            </a:solidFill>
          </a:ln>
          <a:effectLst>
            <a:glow rad="228600">
              <a:schemeClr val="accent1">
                <a:satMod val="175000"/>
                <a:alpha val="40000"/>
              </a:schemeClr>
            </a:glow>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2773466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EF5DD7-D7CA-A9ED-4AF9-D47C3F3F5BB6}"/>
              </a:ext>
            </a:extLst>
          </p:cNvPr>
          <p:cNvSpPr>
            <a:spLocks noGrp="1"/>
          </p:cNvSpPr>
          <p:nvPr>
            <p:ph type="sldNum" sz="quarter" idx="13"/>
          </p:nvPr>
        </p:nvSpPr>
        <p:spPr/>
        <p:txBody>
          <a:bodyPr/>
          <a:lstStyle/>
          <a:p>
            <a:fld id="{326EF2E3-409D-4D76-AD02-397A36B0DAF9}" type="slidenum">
              <a:rPr lang="en-US" smtClean="0"/>
              <a:pPr/>
              <a:t>3</a:t>
            </a:fld>
            <a:endParaRPr lang="en-US" dirty="0"/>
          </a:p>
        </p:txBody>
      </p:sp>
      <p:sp>
        <p:nvSpPr>
          <p:cNvPr id="5" name="TextBox 4">
            <a:extLst>
              <a:ext uri="{FF2B5EF4-FFF2-40B4-BE49-F238E27FC236}">
                <a16:creationId xmlns:a16="http://schemas.microsoft.com/office/drawing/2014/main" id="{0716960E-FF80-6453-1FC3-07EC8908971C}"/>
              </a:ext>
            </a:extLst>
          </p:cNvPr>
          <p:cNvSpPr txBox="1"/>
          <p:nvPr/>
        </p:nvSpPr>
        <p:spPr>
          <a:xfrm>
            <a:off x="3575720" y="476672"/>
            <a:ext cx="4690004" cy="707886"/>
          </a:xfrm>
          <a:prstGeom prst="rect">
            <a:avLst/>
          </a:prstGeom>
          <a:noFill/>
        </p:spPr>
        <p:txBody>
          <a:bodyPr wrap="square" rtlCol="0">
            <a:spAutoFit/>
          </a:bodyPr>
          <a:lstStyle/>
          <a:p>
            <a:pPr algn="ctr"/>
            <a:r>
              <a:rPr sz="4000" b="1" dirty="0">
                <a:ln w="0"/>
                <a:solidFill>
                  <a:srgbClr val="00B0F0"/>
                </a:solidFill>
                <a:effectLst>
                  <a:outerShdw blurRad="38100" dist="19050" dir="2700000" algn="tl" rotWithShape="0">
                    <a:schemeClr val="dk1">
                      <a:alpha val="40000"/>
                    </a:schemeClr>
                  </a:outerShdw>
                </a:effectLst>
              </a:rPr>
              <a:t>Problem Statement</a:t>
            </a:r>
          </a:p>
        </p:txBody>
      </p:sp>
      <p:pic>
        <p:nvPicPr>
          <p:cNvPr id="3" name="Content Placeholder 4">
            <a:extLst>
              <a:ext uri="{FF2B5EF4-FFF2-40B4-BE49-F238E27FC236}">
                <a16:creationId xmlns:a16="http://schemas.microsoft.com/office/drawing/2014/main" id="{27B77ADE-8926-CA92-0535-A5B43D7C3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6200" y="2368759"/>
            <a:ext cx="4012405" cy="3004457"/>
          </a:xfrm>
          <a:prstGeom prst="ellipse">
            <a:avLst/>
          </a:prstGeom>
          <a:ln>
            <a:noFill/>
          </a:ln>
          <a:effectLst>
            <a:softEdge rad="112500"/>
          </a:effectLst>
        </p:spPr>
      </p:pic>
      <p:sp>
        <p:nvSpPr>
          <p:cNvPr id="8" name="TextBox 7">
            <a:extLst>
              <a:ext uri="{FF2B5EF4-FFF2-40B4-BE49-F238E27FC236}">
                <a16:creationId xmlns:a16="http://schemas.microsoft.com/office/drawing/2014/main" id="{00DC842F-4C3C-074D-51B3-727540EB5D56}"/>
              </a:ext>
            </a:extLst>
          </p:cNvPr>
          <p:cNvSpPr txBox="1"/>
          <p:nvPr/>
        </p:nvSpPr>
        <p:spPr>
          <a:xfrm>
            <a:off x="407368" y="1484784"/>
            <a:ext cx="7632848" cy="5270768"/>
          </a:xfrm>
          <a:prstGeom prst="rect">
            <a:avLst/>
          </a:prstGeom>
          <a:noFill/>
        </p:spPr>
        <p:txBody>
          <a:bodyPr wrap="square">
            <a:spAutoFit/>
          </a:bodyPr>
          <a:lstStyle/>
          <a:p>
            <a:pPr>
              <a:buNone/>
            </a:pPr>
            <a:r>
              <a:rPr lang="en-IN" sz="2000" dirty="0"/>
              <a:t>Student performance data contains important information about academic results and other factors related to students. However, </a:t>
            </a:r>
            <a:r>
              <a:rPr lang="en-IN" sz="2000" dirty="0" err="1"/>
              <a:t>analyzing</a:t>
            </a:r>
            <a:r>
              <a:rPr lang="en-IN" sz="2000" dirty="0"/>
              <a:t> a large amount of student data manually can be difficult and time-consuming. It may also be challenging to identify performance patterns, compare students, and find the factors that influence academic results. </a:t>
            </a:r>
          </a:p>
          <a:p>
            <a:pPr>
              <a:buNone/>
            </a:pPr>
            <a:endParaRPr lang="en-IN" dirty="0"/>
          </a:p>
          <a:p>
            <a:pPr marL="285750" indent="-285750">
              <a:buFont typeface="Arial" panose="020B0604020202020204" pitchFamily="34" charset="0"/>
              <a:buChar char="•"/>
            </a:pPr>
            <a:r>
              <a:rPr lang="en-IN" dirty="0"/>
              <a:t> 📊 Difficulty in </a:t>
            </a:r>
            <a:r>
              <a:rPr lang="en-IN" dirty="0" err="1"/>
              <a:t>analyze</a:t>
            </a:r>
            <a:r>
              <a:rPr lang="en-IN" dirty="0"/>
              <a:t> the large amounts of student data. </a:t>
            </a:r>
          </a:p>
          <a:p>
            <a:pPr>
              <a:buNone/>
            </a:pPr>
            <a:endParaRPr lang="en-IN" dirty="0"/>
          </a:p>
          <a:p>
            <a:pPr marL="342900" lvl="0" indent="-342900">
              <a:buFont typeface="Arial" panose="020B0604020202020204" pitchFamily="34" charset="0"/>
              <a:buChar char="•"/>
            </a:pPr>
            <a:r>
              <a:rPr lang="en-IN" dirty="0"/>
              <a:t>⏱️ Manual analysis is time-consuming. </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r>
              <a:rPr lang="en-IN" dirty="0"/>
              <a:t>⚠️ Difficult to identify low-performing and high-performing students. </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r>
              <a:rPr lang="en-IN" dirty="0"/>
              <a:t>📈 Performance trends are not easily visible. </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r>
              <a:rPr lang="en-IN" dirty="0"/>
              <a:t>🔍 Difficult to identify factors affecting student performance. </a:t>
            </a:r>
          </a:p>
          <a:p>
            <a:pPr marL="342900" lvl="0" indent="-342900">
              <a:buFont typeface="Arial" panose="020B0604020202020204" pitchFamily="34" charset="0"/>
              <a:buChar char="•"/>
            </a:pPr>
            <a:endParaRPr lang="en-IN" dirty="0"/>
          </a:p>
          <a:p>
            <a:pPr marL="342900" lvl="0" indent="-342900">
              <a:buFont typeface="Arial" panose="020B0604020202020204" pitchFamily="34" charset="0"/>
              <a:buChar char="•"/>
            </a:pPr>
            <a:r>
              <a:rPr lang="en-IN" dirty="0"/>
              <a:t>📄 Need for clear and meaningful reports from the data. </a:t>
            </a:r>
          </a:p>
        </p:txBody>
      </p:sp>
    </p:spTree>
    <p:extLst>
      <p:ext uri="{BB962C8B-B14F-4D97-AF65-F5344CB8AC3E}">
        <p14:creationId xmlns:p14="http://schemas.microsoft.com/office/powerpoint/2010/main" val="328166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6336D-A041-F821-887A-837462521AD6}"/>
              </a:ext>
            </a:extLst>
          </p:cNvPr>
          <p:cNvSpPr>
            <a:spLocks noGrp="1"/>
          </p:cNvSpPr>
          <p:nvPr>
            <p:ph type="sldNum" sz="quarter" idx="13"/>
          </p:nvPr>
        </p:nvSpPr>
        <p:spPr/>
        <p:txBody>
          <a:bodyPr/>
          <a:lstStyle/>
          <a:p>
            <a:fld id="{326EF2E3-409D-4D76-AD02-397A36B0DAF9}" type="slidenum">
              <a:rPr lang="en-US" smtClean="0"/>
              <a:pPr/>
              <a:t>4</a:t>
            </a:fld>
            <a:endParaRPr lang="en-US" dirty="0"/>
          </a:p>
        </p:txBody>
      </p:sp>
      <p:sp>
        <p:nvSpPr>
          <p:cNvPr id="5" name="TextBox 4">
            <a:extLst>
              <a:ext uri="{FF2B5EF4-FFF2-40B4-BE49-F238E27FC236}">
                <a16:creationId xmlns:a16="http://schemas.microsoft.com/office/drawing/2014/main" id="{AC2383B4-CB5F-D1AB-C9E1-9090856A1D8B}"/>
              </a:ext>
            </a:extLst>
          </p:cNvPr>
          <p:cNvSpPr txBox="1"/>
          <p:nvPr/>
        </p:nvSpPr>
        <p:spPr>
          <a:xfrm>
            <a:off x="3359696" y="532428"/>
            <a:ext cx="5256583" cy="707886"/>
          </a:xfrm>
          <a:prstGeom prst="rect">
            <a:avLst/>
          </a:prstGeom>
          <a:noFill/>
        </p:spPr>
        <p:txBody>
          <a:bodyPr wrap="square" rtlCol="0">
            <a:spAutoFit/>
          </a:bodyPr>
          <a:lstStyle/>
          <a:p>
            <a:pPr algn="ctr"/>
            <a:r>
              <a:rPr sz="4000" b="1" dirty="0">
                <a:solidFill>
                  <a:schemeClr val="accent6">
                    <a:lumMod val="75000"/>
                  </a:schemeClr>
                </a:solidFill>
              </a:rPr>
              <a:t>Objectives</a:t>
            </a:r>
            <a:endParaRPr lang="en-IN" sz="4000" b="1" u="sng" dirty="0">
              <a:solidFill>
                <a:schemeClr val="accent6">
                  <a:lumMod val="75000"/>
                </a:schemeClr>
              </a:solidFill>
            </a:endParaRPr>
          </a:p>
        </p:txBody>
      </p:sp>
      <p:pic>
        <p:nvPicPr>
          <p:cNvPr id="2" name="Content Placeholder 4">
            <a:extLst>
              <a:ext uri="{FF2B5EF4-FFF2-40B4-BE49-F238E27FC236}">
                <a16:creationId xmlns:a16="http://schemas.microsoft.com/office/drawing/2014/main" id="{59D38500-A78F-195B-9D8A-E881AC94C2D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7752184" y="1916832"/>
            <a:ext cx="3790950" cy="370828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3" name="TextBox 2">
            <a:extLst>
              <a:ext uri="{FF2B5EF4-FFF2-40B4-BE49-F238E27FC236}">
                <a16:creationId xmlns:a16="http://schemas.microsoft.com/office/drawing/2014/main" id="{000FA907-19C7-EA1F-54DF-5008AF87F8FF}"/>
              </a:ext>
            </a:extLst>
          </p:cNvPr>
          <p:cNvSpPr txBox="1"/>
          <p:nvPr/>
        </p:nvSpPr>
        <p:spPr>
          <a:xfrm>
            <a:off x="263352" y="1270938"/>
            <a:ext cx="6840760" cy="5450537"/>
          </a:xfrm>
          <a:prstGeom prst="rect">
            <a:avLst/>
          </a:prstGeom>
          <a:noFill/>
        </p:spPr>
        <p:txBody>
          <a:bodyPr wrap="square" rtlCol="0">
            <a:spAutoFit/>
          </a:bodyPr>
          <a:lstStyle/>
          <a:p>
            <a:r>
              <a:rPr lang="en-IN" sz="2000" dirty="0"/>
              <a:t>The main objective of this project is to </a:t>
            </a:r>
            <a:r>
              <a:rPr lang="en-IN" sz="2000" dirty="0" err="1"/>
              <a:t>analyze</a:t>
            </a:r>
            <a:r>
              <a:rPr lang="en-IN" sz="2000" dirty="0"/>
              <a:t> student data and understand their academic performance. The project aims to extract useful information from the dataset and present it in a simple and understandable way.</a:t>
            </a:r>
          </a:p>
          <a:p>
            <a:endParaRPr lang="en-IN" sz="2000" dirty="0"/>
          </a:p>
          <a:p>
            <a:pPr lvl="0"/>
            <a:r>
              <a:rPr lang="en-IN" sz="2000" dirty="0"/>
              <a:t>📊 </a:t>
            </a:r>
            <a:r>
              <a:rPr lang="en-IN" sz="2000" dirty="0" err="1"/>
              <a:t>Analyze</a:t>
            </a:r>
            <a:r>
              <a:rPr lang="en-IN" sz="2000" dirty="0"/>
              <a:t> student academic performance.</a:t>
            </a:r>
          </a:p>
          <a:p>
            <a:pPr lvl="0"/>
            <a:r>
              <a:rPr lang="en-IN" sz="2000" dirty="0"/>
              <a:t> </a:t>
            </a:r>
          </a:p>
          <a:p>
            <a:pPr lvl="0"/>
            <a:r>
              <a:rPr lang="en-IN" sz="2000" dirty="0"/>
              <a:t>🔍 Identify patterns and trends in student data. </a:t>
            </a:r>
          </a:p>
          <a:p>
            <a:pPr lvl="0"/>
            <a:endParaRPr lang="en-IN" sz="2000" dirty="0"/>
          </a:p>
          <a:p>
            <a:pPr lvl="0"/>
            <a:r>
              <a:rPr lang="en-IN" sz="2000" dirty="0"/>
              <a:t>📈 Compare students' performance. </a:t>
            </a:r>
          </a:p>
          <a:p>
            <a:pPr lvl="0"/>
            <a:endParaRPr lang="en-IN" sz="2000" dirty="0"/>
          </a:p>
          <a:p>
            <a:pPr lvl="0"/>
            <a:r>
              <a:rPr lang="en-IN" sz="2000" dirty="0"/>
              <a:t>🎯 Identify factors affecting academic results.</a:t>
            </a:r>
          </a:p>
          <a:p>
            <a:pPr lvl="0"/>
            <a:r>
              <a:rPr lang="en-IN" sz="2000" dirty="0"/>
              <a:t> </a:t>
            </a:r>
          </a:p>
          <a:p>
            <a:pPr lvl="0"/>
            <a:r>
              <a:rPr lang="en-IN" sz="2000" dirty="0"/>
              <a:t>⚠️ Find high-performing and low-performing students.</a:t>
            </a:r>
          </a:p>
          <a:p>
            <a:pPr lvl="0"/>
            <a:r>
              <a:rPr lang="en-IN" sz="2000" dirty="0"/>
              <a:t> </a:t>
            </a:r>
          </a:p>
          <a:p>
            <a:pPr lvl="0"/>
            <a:r>
              <a:rPr lang="en-IN" sz="2000" dirty="0"/>
              <a:t>📄 Generate meaningful insights from the data.</a:t>
            </a:r>
          </a:p>
          <a:p>
            <a:endParaRPr lang="en-IN" sz="2000" dirty="0"/>
          </a:p>
        </p:txBody>
      </p:sp>
    </p:spTree>
    <p:extLst>
      <p:ext uri="{BB962C8B-B14F-4D97-AF65-F5344CB8AC3E}">
        <p14:creationId xmlns:p14="http://schemas.microsoft.com/office/powerpoint/2010/main" val="376286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2410861-08D1-BDCC-BA21-3604E313001A}"/>
              </a:ext>
            </a:extLst>
          </p:cNvPr>
          <p:cNvSpPr txBox="1"/>
          <p:nvPr/>
        </p:nvSpPr>
        <p:spPr>
          <a:xfrm>
            <a:off x="5087888" y="188640"/>
            <a:ext cx="3189271" cy="707886"/>
          </a:xfrm>
          <a:prstGeom prst="rect">
            <a:avLst/>
          </a:prstGeom>
          <a:noFill/>
        </p:spPr>
        <p:txBody>
          <a:bodyPr wrap="square" rtlCol="0">
            <a:spAutoFit/>
          </a:bodyPr>
          <a:lstStyle/>
          <a:p>
            <a:r>
              <a:rPr lang="en-US" sz="4000" b="1" dirty="0">
                <a:solidFill>
                  <a:srgbClr val="7030A0"/>
                </a:solidFill>
              </a:rPr>
              <a:t>Attributes</a:t>
            </a:r>
            <a:endParaRPr lang="en-IN" sz="4000" b="1" dirty="0">
              <a:solidFill>
                <a:srgbClr val="7030A0"/>
              </a:solidFill>
            </a:endParaRPr>
          </a:p>
        </p:txBody>
      </p:sp>
      <p:graphicFrame>
        <p:nvGraphicFramePr>
          <p:cNvPr id="9" name="Table 8">
            <a:extLst>
              <a:ext uri="{FF2B5EF4-FFF2-40B4-BE49-F238E27FC236}">
                <a16:creationId xmlns:a16="http://schemas.microsoft.com/office/drawing/2014/main" id="{C6AA9B2D-7BC1-9919-08D2-5163C95408C2}"/>
              </a:ext>
            </a:extLst>
          </p:cNvPr>
          <p:cNvGraphicFramePr>
            <a:graphicFrameLocks noGrp="1"/>
          </p:cNvGraphicFramePr>
          <p:nvPr>
            <p:extLst>
              <p:ext uri="{D42A27DB-BD31-4B8C-83A1-F6EECF244321}">
                <p14:modId xmlns:p14="http://schemas.microsoft.com/office/powerpoint/2010/main" val="2545387397"/>
              </p:ext>
            </p:extLst>
          </p:nvPr>
        </p:nvGraphicFramePr>
        <p:xfrm>
          <a:off x="1703512" y="1556792"/>
          <a:ext cx="9289032" cy="4515793"/>
        </p:xfrm>
        <a:graphic>
          <a:graphicData uri="http://schemas.openxmlformats.org/drawingml/2006/table">
            <a:tbl>
              <a:tblPr firstRow="1" bandRow="1">
                <a:tableStyleId>{21E4AEA4-8DFA-4A89-87EB-49C32662AFE0}</a:tableStyleId>
              </a:tblPr>
              <a:tblGrid>
                <a:gridCol w="3096344">
                  <a:extLst>
                    <a:ext uri="{9D8B030D-6E8A-4147-A177-3AD203B41FA5}">
                      <a16:colId xmlns:a16="http://schemas.microsoft.com/office/drawing/2014/main" val="964964552"/>
                    </a:ext>
                  </a:extLst>
                </a:gridCol>
                <a:gridCol w="3610740">
                  <a:extLst>
                    <a:ext uri="{9D8B030D-6E8A-4147-A177-3AD203B41FA5}">
                      <a16:colId xmlns:a16="http://schemas.microsoft.com/office/drawing/2014/main" val="1547858569"/>
                    </a:ext>
                  </a:extLst>
                </a:gridCol>
                <a:gridCol w="2581948">
                  <a:extLst>
                    <a:ext uri="{9D8B030D-6E8A-4147-A177-3AD203B41FA5}">
                      <a16:colId xmlns:a16="http://schemas.microsoft.com/office/drawing/2014/main" val="2346206350"/>
                    </a:ext>
                  </a:extLst>
                </a:gridCol>
              </a:tblGrid>
              <a:tr h="610738">
                <a:tc>
                  <a:txBody>
                    <a:bodyPr/>
                    <a:lstStyle/>
                    <a:p>
                      <a:pPr algn="ctr"/>
                      <a:r>
                        <a:rPr lang="en-US" sz="2800" dirty="0"/>
                        <a:t>Attributes</a:t>
                      </a:r>
                      <a:endParaRPr lang="en-IN" sz="2800" dirty="0"/>
                    </a:p>
                  </a:txBody>
                  <a:tcPr/>
                </a:tc>
                <a:tc>
                  <a:txBody>
                    <a:bodyPr/>
                    <a:lstStyle/>
                    <a:p>
                      <a:pPr algn="ctr"/>
                      <a:r>
                        <a:rPr lang="en-US" sz="2800" dirty="0"/>
                        <a:t>Definition</a:t>
                      </a:r>
                      <a:endParaRPr lang="en-IN" sz="2800" dirty="0"/>
                    </a:p>
                  </a:txBody>
                  <a:tcPr/>
                </a:tc>
                <a:tc>
                  <a:txBody>
                    <a:bodyPr/>
                    <a:lstStyle/>
                    <a:p>
                      <a:pPr algn="ctr"/>
                      <a:r>
                        <a:rPr lang="en-US" sz="2800" dirty="0"/>
                        <a:t>Data type</a:t>
                      </a:r>
                      <a:endParaRPr lang="en-IN" sz="2800" dirty="0"/>
                    </a:p>
                  </a:txBody>
                  <a:tcPr/>
                </a:tc>
                <a:extLst>
                  <a:ext uri="{0D108BD9-81ED-4DB2-BD59-A6C34878D82A}">
                    <a16:rowId xmlns:a16="http://schemas.microsoft.com/office/drawing/2014/main" val="3080146341"/>
                  </a:ext>
                </a:extLst>
              </a:tr>
              <a:tr h="557865">
                <a:tc>
                  <a:txBody>
                    <a:bodyPr/>
                    <a:lstStyle/>
                    <a:p>
                      <a:pPr algn="l"/>
                      <a:r>
                        <a:rPr lang="en-US" dirty="0"/>
                        <a:t>Roll Number</a:t>
                      </a:r>
                      <a:endParaRPr lang="en-IN" dirty="0"/>
                    </a:p>
                  </a:txBody>
                  <a:tcPr/>
                </a:tc>
                <a:tc>
                  <a:txBody>
                    <a:bodyPr/>
                    <a:lstStyle/>
                    <a:p>
                      <a:pPr algn="l"/>
                      <a:r>
                        <a:rPr lang="en-US" dirty="0"/>
                        <a:t>Unique identification of student</a:t>
                      </a:r>
                      <a:endParaRPr lang="en-IN" dirty="0"/>
                    </a:p>
                  </a:txBody>
                  <a:tcPr/>
                </a:tc>
                <a:tc>
                  <a:txBody>
                    <a:bodyPr/>
                    <a:lstStyle/>
                    <a:p>
                      <a:pPr algn="l"/>
                      <a:r>
                        <a:rPr lang="en-US" dirty="0"/>
                        <a:t>Integer(int64)</a:t>
                      </a:r>
                      <a:endParaRPr lang="en-IN" dirty="0"/>
                    </a:p>
                  </a:txBody>
                  <a:tcPr/>
                </a:tc>
                <a:extLst>
                  <a:ext uri="{0D108BD9-81ED-4DB2-BD59-A6C34878D82A}">
                    <a16:rowId xmlns:a16="http://schemas.microsoft.com/office/drawing/2014/main" val="3067872833"/>
                  </a:ext>
                </a:extLst>
              </a:tr>
              <a:tr h="557865">
                <a:tc>
                  <a:txBody>
                    <a:bodyPr/>
                    <a:lstStyle/>
                    <a:p>
                      <a:pPr algn="l"/>
                      <a:r>
                        <a:rPr lang="en-US" dirty="0"/>
                        <a:t>Student Name</a:t>
                      </a:r>
                      <a:endParaRPr lang="en-IN" dirty="0"/>
                    </a:p>
                  </a:txBody>
                  <a:tcPr/>
                </a:tc>
                <a:tc>
                  <a:txBody>
                    <a:bodyPr/>
                    <a:lstStyle/>
                    <a:p>
                      <a:pPr algn="l"/>
                      <a:r>
                        <a:rPr lang="en-US" dirty="0"/>
                        <a:t>Name of the Student</a:t>
                      </a:r>
                      <a:endParaRPr lang="en-IN" dirty="0"/>
                    </a:p>
                  </a:txBody>
                  <a:tcPr/>
                </a:tc>
                <a:tc>
                  <a:txBody>
                    <a:bodyPr/>
                    <a:lstStyle/>
                    <a:p>
                      <a:pPr algn="l"/>
                      <a:r>
                        <a:rPr lang="en-US" dirty="0"/>
                        <a:t>Categorical(object)</a:t>
                      </a:r>
                    </a:p>
                  </a:txBody>
                  <a:tcPr/>
                </a:tc>
                <a:extLst>
                  <a:ext uri="{0D108BD9-81ED-4DB2-BD59-A6C34878D82A}">
                    <a16:rowId xmlns:a16="http://schemas.microsoft.com/office/drawing/2014/main" val="2357736927"/>
                  </a:ext>
                </a:extLst>
              </a:tr>
              <a:tr h="557865">
                <a:tc>
                  <a:txBody>
                    <a:bodyPr/>
                    <a:lstStyle/>
                    <a:p>
                      <a:pPr algn="l"/>
                      <a:r>
                        <a:rPr lang="en-US" dirty="0"/>
                        <a:t>Subject Name</a:t>
                      </a:r>
                      <a:endParaRPr lang="en-IN" dirty="0"/>
                    </a:p>
                  </a:txBody>
                  <a:tcPr/>
                </a:tc>
                <a:tc>
                  <a:txBody>
                    <a:bodyPr/>
                    <a:lstStyle/>
                    <a:p>
                      <a:pPr algn="l"/>
                      <a:r>
                        <a:rPr lang="en-US" dirty="0"/>
                        <a:t>Marks obtained in each subject</a:t>
                      </a:r>
                      <a:endParaRPr lang="en-IN" dirty="0"/>
                    </a:p>
                  </a:txBody>
                  <a:tcPr/>
                </a:tc>
                <a:tc>
                  <a:txBody>
                    <a:bodyPr/>
                    <a:lstStyle/>
                    <a:p>
                      <a:pPr algn="l"/>
                      <a:r>
                        <a:rPr lang="en-US" dirty="0"/>
                        <a:t>Categorical(object)</a:t>
                      </a:r>
                      <a:endParaRPr lang="en-IN" dirty="0"/>
                    </a:p>
                  </a:txBody>
                  <a:tcPr/>
                </a:tc>
                <a:extLst>
                  <a:ext uri="{0D108BD9-81ED-4DB2-BD59-A6C34878D82A}">
                    <a16:rowId xmlns:a16="http://schemas.microsoft.com/office/drawing/2014/main" val="1689392733"/>
                  </a:ext>
                </a:extLst>
              </a:tr>
              <a:tr h="557865">
                <a:tc>
                  <a:txBody>
                    <a:bodyPr/>
                    <a:lstStyle/>
                    <a:p>
                      <a:pPr algn="l"/>
                      <a:r>
                        <a:rPr lang="en-US" dirty="0"/>
                        <a:t>Total Marks</a:t>
                      </a:r>
                      <a:endParaRPr lang="en-IN" dirty="0"/>
                    </a:p>
                  </a:txBody>
                  <a:tcPr/>
                </a:tc>
                <a:tc>
                  <a:txBody>
                    <a:bodyPr/>
                    <a:lstStyle/>
                    <a:p>
                      <a:pPr algn="l"/>
                      <a:r>
                        <a:rPr lang="en-US" dirty="0"/>
                        <a:t>Sum of subject Marks</a:t>
                      </a:r>
                      <a:endParaRPr lang="en-IN" dirty="0"/>
                    </a:p>
                  </a:txBody>
                  <a:tcPr/>
                </a:tc>
                <a:tc>
                  <a:txBody>
                    <a:bodyPr/>
                    <a:lstStyle/>
                    <a:p>
                      <a:pPr algn="l"/>
                      <a:r>
                        <a:rPr lang="en-US" dirty="0"/>
                        <a:t>(Numerical)</a:t>
                      </a:r>
                      <a:endParaRPr lang="en-IN" dirty="0"/>
                    </a:p>
                  </a:txBody>
                  <a:tcPr/>
                </a:tc>
                <a:extLst>
                  <a:ext uri="{0D108BD9-81ED-4DB2-BD59-A6C34878D82A}">
                    <a16:rowId xmlns:a16="http://schemas.microsoft.com/office/drawing/2014/main" val="3204083112"/>
                  </a:ext>
                </a:extLst>
              </a:tr>
              <a:tr h="557865">
                <a:tc>
                  <a:txBody>
                    <a:bodyPr/>
                    <a:lstStyle/>
                    <a:p>
                      <a:pPr algn="l"/>
                      <a:r>
                        <a:rPr lang="en-US" dirty="0"/>
                        <a:t>Average Marks</a:t>
                      </a:r>
                      <a:endParaRPr lang="en-IN" dirty="0"/>
                    </a:p>
                  </a:txBody>
                  <a:tcPr/>
                </a:tc>
                <a:tc>
                  <a:txBody>
                    <a:bodyPr/>
                    <a:lstStyle/>
                    <a:p>
                      <a:pPr algn="l"/>
                      <a:r>
                        <a:rPr lang="en-US" dirty="0"/>
                        <a:t>Average of marks obtained</a:t>
                      </a:r>
                      <a:endParaRPr lang="en-IN" dirty="0"/>
                    </a:p>
                  </a:txBody>
                  <a:tcPr/>
                </a:tc>
                <a:tc>
                  <a:txBody>
                    <a:bodyPr/>
                    <a:lstStyle/>
                    <a:p>
                      <a:pPr algn="l"/>
                      <a:r>
                        <a:rPr lang="en-US" dirty="0"/>
                        <a:t>Numerical</a:t>
                      </a:r>
                      <a:endParaRPr lang="en-IN" dirty="0"/>
                    </a:p>
                  </a:txBody>
                  <a:tcPr/>
                </a:tc>
                <a:extLst>
                  <a:ext uri="{0D108BD9-81ED-4DB2-BD59-A6C34878D82A}">
                    <a16:rowId xmlns:a16="http://schemas.microsoft.com/office/drawing/2014/main" val="1512663001"/>
                  </a:ext>
                </a:extLst>
              </a:tr>
              <a:tr h="557865">
                <a:tc>
                  <a:txBody>
                    <a:bodyPr/>
                    <a:lstStyle/>
                    <a:p>
                      <a:pPr algn="l"/>
                      <a:r>
                        <a:rPr lang="en-US" dirty="0"/>
                        <a:t>Percentage</a:t>
                      </a:r>
                      <a:endParaRPr lang="en-IN" dirty="0"/>
                    </a:p>
                  </a:txBody>
                  <a:tcPr/>
                </a:tc>
                <a:tc>
                  <a:txBody>
                    <a:bodyPr/>
                    <a:lstStyle/>
                    <a:p>
                      <a:pPr algn="l"/>
                      <a:r>
                        <a:rPr lang="en-US" dirty="0"/>
                        <a:t>Overall percentage</a:t>
                      </a:r>
                      <a:endParaRPr lang="en-IN" dirty="0"/>
                    </a:p>
                  </a:txBody>
                  <a:tcPr/>
                </a:tc>
                <a:tc>
                  <a:txBody>
                    <a:bodyPr/>
                    <a:lstStyle/>
                    <a:p>
                      <a:pPr algn="l"/>
                      <a:r>
                        <a:rPr lang="en-US" dirty="0"/>
                        <a:t>Numerical</a:t>
                      </a:r>
                      <a:endParaRPr lang="en-IN" dirty="0"/>
                    </a:p>
                  </a:txBody>
                  <a:tcPr/>
                </a:tc>
                <a:extLst>
                  <a:ext uri="{0D108BD9-81ED-4DB2-BD59-A6C34878D82A}">
                    <a16:rowId xmlns:a16="http://schemas.microsoft.com/office/drawing/2014/main" val="1140580235"/>
                  </a:ext>
                </a:extLst>
              </a:tr>
              <a:tr h="557865">
                <a:tc>
                  <a:txBody>
                    <a:bodyPr/>
                    <a:lstStyle/>
                    <a:p>
                      <a:pPr algn="l"/>
                      <a:r>
                        <a:rPr lang="en-US" dirty="0"/>
                        <a:t>Grade</a:t>
                      </a:r>
                      <a:endParaRPr lang="en-IN" dirty="0"/>
                    </a:p>
                  </a:txBody>
                  <a:tcPr/>
                </a:tc>
                <a:tc>
                  <a:txBody>
                    <a:bodyPr/>
                    <a:lstStyle/>
                    <a:p>
                      <a:pPr algn="l"/>
                      <a:r>
                        <a:rPr lang="en-US" dirty="0"/>
                        <a:t>Grade based on performance</a:t>
                      </a:r>
                      <a:endParaRPr lang="en-IN" dirty="0"/>
                    </a:p>
                  </a:txBody>
                  <a:tcPr/>
                </a:tc>
                <a:tc>
                  <a:txBody>
                    <a:bodyPr/>
                    <a:lstStyle/>
                    <a:p>
                      <a:pPr algn="l"/>
                      <a:r>
                        <a:rPr lang="en-US" dirty="0"/>
                        <a:t>Categorical(object)</a:t>
                      </a:r>
                      <a:endParaRPr lang="en-IN" dirty="0"/>
                    </a:p>
                  </a:txBody>
                  <a:tcPr/>
                </a:tc>
                <a:extLst>
                  <a:ext uri="{0D108BD9-81ED-4DB2-BD59-A6C34878D82A}">
                    <a16:rowId xmlns:a16="http://schemas.microsoft.com/office/drawing/2014/main" val="2089264552"/>
                  </a:ext>
                </a:extLst>
              </a:tr>
            </a:tbl>
          </a:graphicData>
        </a:graphic>
      </p:graphicFrame>
    </p:spTree>
    <p:extLst>
      <p:ext uri="{BB962C8B-B14F-4D97-AF65-F5344CB8AC3E}">
        <p14:creationId xmlns:p14="http://schemas.microsoft.com/office/powerpoint/2010/main" val="1510670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B75121-E7A7-E08D-D40D-CF8D41D8676C}"/>
              </a:ext>
            </a:extLst>
          </p:cNvPr>
          <p:cNvSpPr txBox="1"/>
          <p:nvPr/>
        </p:nvSpPr>
        <p:spPr>
          <a:xfrm>
            <a:off x="623392" y="1237469"/>
            <a:ext cx="11449272" cy="5016758"/>
          </a:xfrm>
          <a:prstGeom prst="rect">
            <a:avLst/>
          </a:prstGeom>
          <a:noFill/>
        </p:spPr>
        <p:txBody>
          <a:bodyPr wrap="square">
            <a:spAutoFit/>
          </a:bodyPr>
          <a:lstStyle/>
          <a:p>
            <a:pPr>
              <a:buNone/>
            </a:pPr>
            <a:r>
              <a:rPr lang="en-IN" sz="2000" dirty="0"/>
              <a:t>Data analysis is the process of examining and interpreting data to find useful information, patterns, and relationships. It helps convert processed data into meaningful insights that can support better decisions.</a:t>
            </a:r>
          </a:p>
          <a:p>
            <a:pPr>
              <a:buNone/>
            </a:pPr>
            <a:endParaRPr lang="en-IN" sz="2000" dirty="0"/>
          </a:p>
          <a:p>
            <a:pPr>
              <a:buNone/>
            </a:pPr>
            <a:r>
              <a:rPr lang="en-IN" sz="2000" b="1" dirty="0"/>
              <a:t>🎯 Uses of Data Analysis</a:t>
            </a:r>
          </a:p>
          <a:p>
            <a:pPr>
              <a:buNone/>
            </a:pPr>
            <a:endParaRPr lang="en-IN" sz="2000" b="1" dirty="0"/>
          </a:p>
          <a:p>
            <a:pPr marL="342900" lvl="0" indent="-342900">
              <a:buFont typeface="Arial" panose="020B0604020202020204" pitchFamily="34" charset="0"/>
              <a:buChar char="•"/>
            </a:pPr>
            <a:r>
              <a:rPr lang="en-IN" sz="2000" dirty="0"/>
              <a:t>📈 </a:t>
            </a:r>
            <a:r>
              <a:rPr lang="en-IN" sz="2000" b="1" dirty="0"/>
              <a:t>Understand Performance</a:t>
            </a:r>
            <a:r>
              <a:rPr lang="en-IN" sz="2000" dirty="0"/>
              <a:t> – Helps understand the academic performance of students.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Find Patterns</a:t>
            </a:r>
            <a:r>
              <a:rPr lang="en-IN" sz="2000" dirty="0"/>
              <a:t> – Identifies patterns and trends in student results.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Identify Factors</a:t>
            </a:r>
            <a:r>
              <a:rPr lang="en-IN" sz="2000" dirty="0"/>
              <a:t> – Helps find factors that may affect student performance.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Compare Students</a:t>
            </a:r>
            <a:r>
              <a:rPr lang="en-IN" sz="2000" dirty="0"/>
              <a:t> – Allows comparison between different groups of students.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Calculate Results</a:t>
            </a:r>
            <a:r>
              <a:rPr lang="en-IN" sz="2000" dirty="0"/>
              <a:t> – Helps calculate total, average, minimum, and maximum scores.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Support Decisions</a:t>
            </a:r>
            <a:r>
              <a:rPr lang="en-IN" sz="2000" dirty="0"/>
              <a:t> – Provides useful insights for improving student performance. </a:t>
            </a:r>
          </a:p>
        </p:txBody>
      </p:sp>
      <p:sp>
        <p:nvSpPr>
          <p:cNvPr id="8" name="TextBox 7">
            <a:extLst>
              <a:ext uri="{FF2B5EF4-FFF2-40B4-BE49-F238E27FC236}">
                <a16:creationId xmlns:a16="http://schemas.microsoft.com/office/drawing/2014/main" id="{DA8599F1-4720-50AD-27E3-5DCD198B0017}"/>
              </a:ext>
            </a:extLst>
          </p:cNvPr>
          <p:cNvSpPr txBox="1"/>
          <p:nvPr/>
        </p:nvSpPr>
        <p:spPr>
          <a:xfrm>
            <a:off x="4053612" y="266787"/>
            <a:ext cx="6218852" cy="707886"/>
          </a:xfrm>
          <a:prstGeom prst="rect">
            <a:avLst/>
          </a:prstGeom>
          <a:noFill/>
        </p:spPr>
        <p:txBody>
          <a:bodyPr wrap="square">
            <a:spAutoFit/>
          </a:bodyPr>
          <a:lstStyle/>
          <a:p>
            <a:pPr>
              <a:buNone/>
            </a:pPr>
            <a:r>
              <a:rPr lang="en-IN" sz="4000" b="1" dirty="0"/>
              <a:t>📊 DATA ANALYSIS</a:t>
            </a:r>
          </a:p>
        </p:txBody>
      </p:sp>
    </p:spTree>
    <p:extLst>
      <p:ext uri="{BB962C8B-B14F-4D97-AF65-F5344CB8AC3E}">
        <p14:creationId xmlns:p14="http://schemas.microsoft.com/office/powerpoint/2010/main" val="253424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41AB9E-84E4-0103-8AE8-CA6B2F1E9883}"/>
              </a:ext>
            </a:extLst>
          </p:cNvPr>
          <p:cNvSpPr>
            <a:spLocks noGrp="1"/>
          </p:cNvSpPr>
          <p:nvPr>
            <p:ph type="sldNum" sz="quarter" idx="13"/>
          </p:nvPr>
        </p:nvSpPr>
        <p:spPr/>
        <p:txBody>
          <a:bodyPr/>
          <a:lstStyle/>
          <a:p>
            <a:fld id="{326EF2E3-409D-4D76-AD02-397A36B0DAF9}" type="slidenum">
              <a:rPr lang="en-US" smtClean="0"/>
              <a:pPr/>
              <a:t>7</a:t>
            </a:fld>
            <a:endParaRPr lang="en-US"/>
          </a:p>
        </p:txBody>
      </p:sp>
      <p:sp>
        <p:nvSpPr>
          <p:cNvPr id="5" name="TextBox 4">
            <a:extLst>
              <a:ext uri="{FF2B5EF4-FFF2-40B4-BE49-F238E27FC236}">
                <a16:creationId xmlns:a16="http://schemas.microsoft.com/office/drawing/2014/main" id="{F3452663-1FC0-84CE-CB89-060642ED1F25}"/>
              </a:ext>
            </a:extLst>
          </p:cNvPr>
          <p:cNvSpPr txBox="1"/>
          <p:nvPr/>
        </p:nvSpPr>
        <p:spPr>
          <a:xfrm>
            <a:off x="4151784" y="201902"/>
            <a:ext cx="4346024" cy="707886"/>
          </a:xfrm>
          <a:prstGeom prst="rect">
            <a:avLst/>
          </a:prstGeom>
          <a:noFill/>
        </p:spPr>
        <p:txBody>
          <a:bodyPr wrap="square" rtlCol="0">
            <a:spAutoFit/>
          </a:bodyPr>
          <a:lstStyle/>
          <a:p>
            <a:pPr algn="ctr"/>
            <a:r>
              <a:rPr sz="4000" b="1" dirty="0">
                <a:solidFill>
                  <a:srgbClr val="C00000"/>
                </a:solidFill>
              </a:rPr>
              <a:t>D</a:t>
            </a:r>
            <a:r>
              <a:rPr lang="en-US" sz="4000" b="1" dirty="0">
                <a:solidFill>
                  <a:srgbClr val="C00000"/>
                </a:solidFill>
              </a:rPr>
              <a:t>ataset </a:t>
            </a:r>
            <a:endParaRPr sz="4000" b="1" dirty="0">
              <a:solidFill>
                <a:srgbClr val="C00000"/>
              </a:solidFill>
            </a:endParaRPr>
          </a:p>
        </p:txBody>
      </p:sp>
      <p:sp>
        <p:nvSpPr>
          <p:cNvPr id="3" name="TextBox 2">
            <a:extLst>
              <a:ext uri="{FF2B5EF4-FFF2-40B4-BE49-F238E27FC236}">
                <a16:creationId xmlns:a16="http://schemas.microsoft.com/office/drawing/2014/main" id="{C36F3912-56C7-B4E0-6BC6-6F3C23B75F11}"/>
              </a:ext>
            </a:extLst>
          </p:cNvPr>
          <p:cNvSpPr txBox="1"/>
          <p:nvPr/>
        </p:nvSpPr>
        <p:spPr>
          <a:xfrm>
            <a:off x="634596" y="5742378"/>
            <a:ext cx="11150036" cy="892552"/>
          </a:xfrm>
          <a:prstGeom prst="rect">
            <a:avLst/>
          </a:prstGeom>
          <a:noFill/>
        </p:spPr>
        <p:txBody>
          <a:bodyPr wrap="square">
            <a:spAutoFit/>
          </a:bodyPr>
          <a:lstStyle/>
          <a:p>
            <a:pPr algn="l"/>
            <a:endParaRPr lang="en-IN" dirty="0"/>
          </a:p>
        </p:txBody>
      </p:sp>
      <p:sp>
        <p:nvSpPr>
          <p:cNvPr id="11" name="TextBox 10">
            <a:extLst>
              <a:ext uri="{FF2B5EF4-FFF2-40B4-BE49-F238E27FC236}">
                <a16:creationId xmlns:a16="http://schemas.microsoft.com/office/drawing/2014/main" id="{2F8375AB-D48B-3D56-36E4-0B6C87CC4BE3}"/>
              </a:ext>
            </a:extLst>
          </p:cNvPr>
          <p:cNvSpPr txBox="1"/>
          <p:nvPr/>
        </p:nvSpPr>
        <p:spPr>
          <a:xfrm>
            <a:off x="263352" y="1212545"/>
            <a:ext cx="11897096" cy="5479443"/>
          </a:xfrm>
          <a:prstGeom prst="rect">
            <a:avLst/>
          </a:prstGeom>
          <a:noFill/>
        </p:spPr>
        <p:txBody>
          <a:bodyPr wrap="square">
            <a:spAutoFit/>
          </a:bodyPr>
          <a:lstStyle/>
          <a:p>
            <a:pPr>
              <a:buNone/>
            </a:pPr>
            <a:r>
              <a:rPr lang="en-IN" sz="2000" dirty="0"/>
              <a:t>The dataset is used to study and </a:t>
            </a:r>
            <a:r>
              <a:rPr lang="en-IN" sz="2000" dirty="0" err="1"/>
              <a:t>analyze</a:t>
            </a:r>
            <a:r>
              <a:rPr lang="en-IN" sz="2000" dirty="0"/>
              <a:t> student academic performance. It contains information about students and different factors related to their academic results. The dataset was obtained from Kaggle in CSV format and was loaded into Google </a:t>
            </a:r>
            <a:r>
              <a:rPr lang="en-IN" sz="2000" dirty="0" err="1"/>
              <a:t>Colab</a:t>
            </a:r>
            <a:r>
              <a:rPr lang="en-IN" sz="2000" dirty="0"/>
              <a:t> for cleaning, preprocessing, and analysis.</a:t>
            </a:r>
          </a:p>
          <a:p>
            <a:pPr>
              <a:buNone/>
            </a:pPr>
            <a:endParaRPr lang="en-IN" sz="2000" dirty="0"/>
          </a:p>
          <a:p>
            <a:pPr marL="342900" lvl="0" indent="-342900">
              <a:buFont typeface="Arial" panose="020B0604020202020204" pitchFamily="34" charset="0"/>
              <a:buChar char="•"/>
            </a:pPr>
            <a:r>
              <a:rPr lang="en-IN" sz="2000" dirty="0"/>
              <a:t>🎓 Contains student academic performance records.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dataset was collected from Kaggle.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dataset is available in CSV format.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CSV file was uploaded and accessed through Google </a:t>
            </a:r>
            <a:r>
              <a:rPr lang="en-IN" sz="2000" dirty="0" err="1"/>
              <a:t>Colab</a:t>
            </a:r>
            <a:r>
              <a:rPr lang="en-IN" sz="2000" dirty="0"/>
              <a: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Google Drive was mounted to Google </a:t>
            </a:r>
            <a:r>
              <a:rPr lang="en-IN" sz="2000" dirty="0" err="1"/>
              <a:t>Colab</a:t>
            </a:r>
            <a:r>
              <a:rPr lang="en-IN" sz="2000" dirty="0"/>
              <a:t> to access the dataset.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data was prepared for cleaning and preprocessing.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dataset is used to identify patterns and factors affecting student performance.</a:t>
            </a:r>
          </a:p>
        </p:txBody>
      </p:sp>
    </p:spTree>
    <p:extLst>
      <p:ext uri="{BB962C8B-B14F-4D97-AF65-F5344CB8AC3E}">
        <p14:creationId xmlns:p14="http://schemas.microsoft.com/office/powerpoint/2010/main" val="1545252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600744" y="5071235"/>
            <a:ext cx="1058517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3C4EBC4D-6FA1-B2B4-F832-D44F801CA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1008" y="1484784"/>
            <a:ext cx="6912768" cy="5256585"/>
          </a:xfrm>
          <a:prstGeom prst="rect">
            <a:avLst/>
          </a:prstGeom>
        </p:spPr>
      </p:pic>
      <p:pic>
        <p:nvPicPr>
          <p:cNvPr id="10" name="Picture 9">
            <a:extLst>
              <a:ext uri="{FF2B5EF4-FFF2-40B4-BE49-F238E27FC236}">
                <a16:creationId xmlns:a16="http://schemas.microsoft.com/office/drawing/2014/main" id="{0B34DF73-C37C-505C-5D7C-2F41D3C42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571" y="2492896"/>
            <a:ext cx="4176464" cy="2088232"/>
          </a:xfrm>
          <a:prstGeom prst="rect">
            <a:avLst/>
          </a:prstGeom>
        </p:spPr>
      </p:pic>
      <p:sp>
        <p:nvSpPr>
          <p:cNvPr id="13" name="TextBox 12">
            <a:extLst>
              <a:ext uri="{FF2B5EF4-FFF2-40B4-BE49-F238E27FC236}">
                <a16:creationId xmlns:a16="http://schemas.microsoft.com/office/drawing/2014/main" id="{3741D3AF-7518-6955-A609-0CDE8D9DCE07}"/>
              </a:ext>
            </a:extLst>
          </p:cNvPr>
          <p:cNvSpPr txBox="1"/>
          <p:nvPr/>
        </p:nvSpPr>
        <p:spPr>
          <a:xfrm>
            <a:off x="254368" y="5301208"/>
            <a:ext cx="4302144" cy="707886"/>
          </a:xfrm>
          <a:prstGeom prst="rect">
            <a:avLst/>
          </a:prstGeom>
          <a:noFill/>
        </p:spPr>
        <p:txBody>
          <a:bodyPr wrap="square">
            <a:spAutoFit/>
          </a:bodyPr>
          <a:lstStyle/>
          <a:p>
            <a:r>
              <a:rPr lang="en-IN" sz="2000" dirty="0"/>
              <a:t>🔗 Google Drive is mounted with Google </a:t>
            </a:r>
            <a:r>
              <a:rPr lang="en-IN" sz="2000" dirty="0" err="1"/>
              <a:t>Colab</a:t>
            </a:r>
            <a:r>
              <a:rPr lang="en-IN" sz="2000" dirty="0"/>
              <a:t> to access the dataset.</a:t>
            </a:r>
          </a:p>
        </p:txBody>
      </p:sp>
      <p:sp>
        <p:nvSpPr>
          <p:cNvPr id="14" name="TextBox 13">
            <a:extLst>
              <a:ext uri="{FF2B5EF4-FFF2-40B4-BE49-F238E27FC236}">
                <a16:creationId xmlns:a16="http://schemas.microsoft.com/office/drawing/2014/main" id="{1ED4C1C3-D15A-1428-4D46-13CAEA6633F7}"/>
              </a:ext>
            </a:extLst>
          </p:cNvPr>
          <p:cNvSpPr txBox="1"/>
          <p:nvPr/>
        </p:nvSpPr>
        <p:spPr>
          <a:xfrm>
            <a:off x="4532035" y="499899"/>
            <a:ext cx="7672293" cy="984885"/>
          </a:xfrm>
          <a:prstGeom prst="rect">
            <a:avLst/>
          </a:prstGeom>
          <a:noFill/>
        </p:spPr>
        <p:txBody>
          <a:bodyPr wrap="none" rtlCol="0">
            <a:spAutoFit/>
          </a:bodyPr>
          <a:lstStyle/>
          <a:p>
            <a:pPr lvl="0"/>
            <a:r>
              <a:rPr lang="en-IN" sz="2000" dirty="0"/>
              <a:t>🐼 The dataset is loaded using Pandas for analysis. </a:t>
            </a:r>
          </a:p>
          <a:p>
            <a:pPr lvl="0"/>
            <a:r>
              <a:rPr lang="en-IN" sz="2000" dirty="0"/>
              <a:t>👀 The displayed table shows the student records and their attributes</a:t>
            </a:r>
            <a:r>
              <a:rPr lang="en-IN" dirty="0"/>
              <a:t>.</a:t>
            </a:r>
          </a:p>
          <a:p>
            <a:endParaRPr lang="en-IN" dirty="0"/>
          </a:p>
        </p:txBody>
      </p:sp>
      <p:sp>
        <p:nvSpPr>
          <p:cNvPr id="16" name="TextBox 15">
            <a:extLst>
              <a:ext uri="{FF2B5EF4-FFF2-40B4-BE49-F238E27FC236}">
                <a16:creationId xmlns:a16="http://schemas.microsoft.com/office/drawing/2014/main" id="{7F288804-8321-5472-CB81-9C41F5003557}"/>
              </a:ext>
            </a:extLst>
          </p:cNvPr>
          <p:cNvSpPr txBox="1"/>
          <p:nvPr/>
        </p:nvSpPr>
        <p:spPr>
          <a:xfrm>
            <a:off x="141952" y="1178322"/>
            <a:ext cx="5371480" cy="954107"/>
          </a:xfrm>
          <a:prstGeom prst="rect">
            <a:avLst/>
          </a:prstGeom>
          <a:noFill/>
        </p:spPr>
        <p:txBody>
          <a:bodyPr wrap="square">
            <a:spAutoFit/>
          </a:bodyPr>
          <a:lstStyle/>
          <a:p>
            <a:r>
              <a:rPr lang="en-IN" sz="2800" b="1" dirty="0"/>
              <a:t>☁️ DATASET COLLECTION &amp; LOADING</a:t>
            </a:r>
          </a:p>
        </p:txBody>
      </p:sp>
    </p:spTree>
    <p:extLst>
      <p:ext uri="{BB962C8B-B14F-4D97-AF65-F5344CB8AC3E}">
        <p14:creationId xmlns:p14="http://schemas.microsoft.com/office/powerpoint/2010/main" val="3055155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3"/>
          </p:nvPr>
        </p:nvSpPr>
        <p:spPr/>
        <p:txBody>
          <a:bodyPr/>
          <a:lstStyle/>
          <a:p>
            <a:fld id="{326EF2E3-409D-4D76-AD02-397A36B0DAF9}" type="slidenum">
              <a:rPr lang="en-US" smtClean="0"/>
              <a:pPr/>
              <a:t>9</a:t>
            </a:fld>
            <a:endParaRPr lang="en-US"/>
          </a:p>
        </p:txBody>
      </p:sp>
      <p:sp>
        <p:nvSpPr>
          <p:cNvPr id="7" name="Rectangle 3"/>
          <p:cNvSpPr>
            <a:spLocks noChangeArrowheads="1"/>
          </p:cNvSpPr>
          <p:nvPr/>
        </p:nvSpPr>
        <p:spPr bwMode="auto">
          <a:xfrm>
            <a:off x="767408" y="2791676"/>
            <a:ext cx="1094521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a:off x="911424" y="3582154"/>
            <a:ext cx="1087320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7A41BC2-456D-FEA6-F0C2-75D29B148385}"/>
              </a:ext>
            </a:extLst>
          </p:cNvPr>
          <p:cNvSpPr txBox="1"/>
          <p:nvPr/>
        </p:nvSpPr>
        <p:spPr>
          <a:xfrm>
            <a:off x="1415480" y="1202931"/>
            <a:ext cx="9541412" cy="5324535"/>
          </a:xfrm>
          <a:prstGeom prst="rect">
            <a:avLst/>
          </a:prstGeom>
          <a:noFill/>
        </p:spPr>
        <p:txBody>
          <a:bodyPr wrap="square">
            <a:spAutoFit/>
          </a:bodyPr>
          <a:lstStyle/>
          <a:p>
            <a:pPr>
              <a:buNone/>
            </a:pPr>
            <a:r>
              <a:rPr lang="en-IN" sz="2000" dirty="0"/>
              <a:t>Data cleaning is the process of checking and improving the quality of the student dataset before performing analysis. It helps ensure that the data is accurate, consistent, and ready for further processing.</a:t>
            </a:r>
          </a:p>
          <a:p>
            <a:pPr>
              <a:buNone/>
            </a:pPr>
            <a:endParaRPr lang="en-IN" sz="2000" dirty="0"/>
          </a:p>
          <a:p>
            <a:pPr marL="342900" lvl="0" indent="-342900">
              <a:buFont typeface="Arial" panose="020B0604020202020204" pitchFamily="34" charset="0"/>
              <a:buChar char="•"/>
            </a:pPr>
            <a:r>
              <a:rPr lang="en-IN" sz="2000" dirty="0"/>
              <a:t>🔍 </a:t>
            </a:r>
            <a:r>
              <a:rPr lang="en-IN" sz="2000" b="1" dirty="0"/>
              <a:t>head()</a:t>
            </a:r>
            <a:r>
              <a:rPr lang="en-IN" sz="2000" dirty="0"/>
              <a:t> – Used to display the first 5 records of the dataset.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tail()</a:t>
            </a:r>
            <a:r>
              <a:rPr lang="en-IN" sz="2000" dirty="0"/>
              <a:t> – Used to display the last 5 records of the dataset.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shape</a:t>
            </a:r>
            <a:r>
              <a:rPr lang="en-IN" sz="2000" dirty="0"/>
              <a:t> – Used to find the number of rows and columns in the dataset.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err="1"/>
              <a:t>isnull</a:t>
            </a:r>
            <a:r>
              <a:rPr lang="en-IN" sz="2000" b="1" dirty="0"/>
              <a:t>()</a:t>
            </a:r>
            <a:r>
              <a:rPr lang="en-IN" sz="2000" dirty="0"/>
              <a:t> – Used to check for missing values in the dataset.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err="1"/>
              <a:t>dropna</a:t>
            </a:r>
            <a:r>
              <a:rPr lang="en-IN" sz="2000" b="1" dirty="0"/>
              <a:t>()</a:t>
            </a:r>
            <a:r>
              <a:rPr lang="en-IN" sz="2000" dirty="0"/>
              <a:t> – Used to remove records containing missing values when required.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duplicated()</a:t>
            </a:r>
            <a:r>
              <a:rPr lang="en-IN" sz="2000" dirty="0"/>
              <a:t> – Used to identify duplicate records.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Cleaning the data helps make the dataset </a:t>
            </a:r>
            <a:r>
              <a:rPr lang="en-IN" sz="2000" b="1" dirty="0"/>
              <a:t>consistent and suitable for analysis</a:t>
            </a:r>
            <a:r>
              <a:rPr lang="en-IN" sz="2000" dirty="0"/>
              <a:t>. </a:t>
            </a:r>
          </a:p>
        </p:txBody>
      </p:sp>
      <p:sp>
        <p:nvSpPr>
          <p:cNvPr id="11" name="TextBox 10">
            <a:extLst>
              <a:ext uri="{FF2B5EF4-FFF2-40B4-BE49-F238E27FC236}">
                <a16:creationId xmlns:a16="http://schemas.microsoft.com/office/drawing/2014/main" id="{0E6097E3-68F5-3418-B4FD-7EA842B97AD1}"/>
              </a:ext>
            </a:extLst>
          </p:cNvPr>
          <p:cNvSpPr txBox="1"/>
          <p:nvPr/>
        </p:nvSpPr>
        <p:spPr>
          <a:xfrm>
            <a:off x="3575720" y="218046"/>
            <a:ext cx="4394793" cy="984885"/>
          </a:xfrm>
          <a:prstGeom prst="rect">
            <a:avLst/>
          </a:prstGeom>
          <a:noFill/>
        </p:spPr>
        <p:txBody>
          <a:bodyPr wrap="none" rtlCol="0">
            <a:spAutoFit/>
          </a:bodyPr>
          <a:lstStyle/>
          <a:p>
            <a:r>
              <a:rPr lang="en-IN" sz="4000" b="1" dirty="0"/>
              <a:t>🧹 DATA CLEANING</a:t>
            </a:r>
          </a:p>
          <a:p>
            <a:endParaRPr lang="en-IN" dirty="0"/>
          </a:p>
        </p:txBody>
      </p:sp>
    </p:spTree>
    <p:extLst>
      <p:ext uri="{BB962C8B-B14F-4D97-AF65-F5344CB8AC3E}">
        <p14:creationId xmlns:p14="http://schemas.microsoft.com/office/powerpoint/2010/main" val="2288026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450939D-C53C-00FD-EAB2-497E5911FE58}"/>
              </a:ext>
            </a:extLst>
          </p:cNvPr>
          <p:cNvSpPr txBox="1"/>
          <p:nvPr/>
        </p:nvSpPr>
        <p:spPr>
          <a:xfrm>
            <a:off x="396965" y="3798719"/>
            <a:ext cx="3637090" cy="646331"/>
          </a:xfrm>
          <a:prstGeom prst="rect">
            <a:avLst/>
          </a:prstGeom>
          <a:noFill/>
        </p:spPr>
        <p:txBody>
          <a:bodyPr wrap="square" rtlCol="0">
            <a:spAutoFit/>
          </a:bodyPr>
          <a:lstStyle/>
          <a:p>
            <a:r>
              <a:rPr lang="en-IN" dirty="0"/>
              <a:t>🔍 </a:t>
            </a:r>
            <a:r>
              <a:rPr lang="en-IN" b="1" dirty="0"/>
              <a:t>head()</a:t>
            </a:r>
            <a:r>
              <a:rPr lang="en-IN" dirty="0"/>
              <a:t> – Used to display the first 5 records of the dataset.</a:t>
            </a:r>
          </a:p>
        </p:txBody>
      </p:sp>
      <p:sp>
        <p:nvSpPr>
          <p:cNvPr id="27" name="TextBox 26">
            <a:extLst>
              <a:ext uri="{FF2B5EF4-FFF2-40B4-BE49-F238E27FC236}">
                <a16:creationId xmlns:a16="http://schemas.microsoft.com/office/drawing/2014/main" id="{E9CEEA06-3FC9-ED2A-723A-654BF92FA80D}"/>
              </a:ext>
            </a:extLst>
          </p:cNvPr>
          <p:cNvSpPr txBox="1"/>
          <p:nvPr/>
        </p:nvSpPr>
        <p:spPr>
          <a:xfrm>
            <a:off x="4818727" y="4738315"/>
            <a:ext cx="1440006" cy="1754326"/>
          </a:xfrm>
          <a:prstGeom prst="rect">
            <a:avLst/>
          </a:prstGeom>
          <a:noFill/>
        </p:spPr>
        <p:txBody>
          <a:bodyPr wrap="square" rtlCol="0">
            <a:spAutoFit/>
          </a:bodyPr>
          <a:lstStyle/>
          <a:p>
            <a:r>
              <a:rPr lang="en-IN" dirty="0"/>
              <a:t>👀 </a:t>
            </a:r>
            <a:r>
              <a:rPr lang="en-IN" b="1" dirty="0"/>
              <a:t>tail()</a:t>
            </a:r>
            <a:r>
              <a:rPr lang="en-IN" dirty="0"/>
              <a:t> – Used to display the last 5 records of the dataset.</a:t>
            </a:r>
          </a:p>
        </p:txBody>
      </p:sp>
      <p:sp>
        <p:nvSpPr>
          <p:cNvPr id="29" name="TextBox 28">
            <a:extLst>
              <a:ext uri="{FF2B5EF4-FFF2-40B4-BE49-F238E27FC236}">
                <a16:creationId xmlns:a16="http://schemas.microsoft.com/office/drawing/2014/main" id="{D9AFD25A-D261-123E-3CA8-61F40A99185A}"/>
              </a:ext>
            </a:extLst>
          </p:cNvPr>
          <p:cNvSpPr txBox="1"/>
          <p:nvPr/>
        </p:nvSpPr>
        <p:spPr>
          <a:xfrm>
            <a:off x="5133748" y="2150183"/>
            <a:ext cx="1543016" cy="1477328"/>
          </a:xfrm>
          <a:prstGeom prst="rect">
            <a:avLst/>
          </a:prstGeom>
          <a:noFill/>
        </p:spPr>
        <p:txBody>
          <a:bodyPr wrap="square">
            <a:spAutoFit/>
          </a:bodyPr>
          <a:lstStyle/>
          <a:p>
            <a:r>
              <a:rPr lang="en-IN" dirty="0"/>
              <a:t>❌ </a:t>
            </a:r>
            <a:r>
              <a:rPr lang="en-IN" b="1" dirty="0" err="1"/>
              <a:t>isnull</a:t>
            </a:r>
            <a:r>
              <a:rPr lang="en-IN" b="1" dirty="0"/>
              <a:t>()</a:t>
            </a:r>
            <a:r>
              <a:rPr lang="en-IN" dirty="0"/>
              <a:t> – Used to check for missing values in the dataset.</a:t>
            </a:r>
          </a:p>
        </p:txBody>
      </p:sp>
      <p:sp>
        <p:nvSpPr>
          <p:cNvPr id="31" name="TextBox 30">
            <a:extLst>
              <a:ext uri="{FF2B5EF4-FFF2-40B4-BE49-F238E27FC236}">
                <a16:creationId xmlns:a16="http://schemas.microsoft.com/office/drawing/2014/main" id="{F626ED76-30F6-94A5-F6BE-325C1C70DAB3}"/>
              </a:ext>
            </a:extLst>
          </p:cNvPr>
          <p:cNvSpPr txBox="1"/>
          <p:nvPr/>
        </p:nvSpPr>
        <p:spPr>
          <a:xfrm>
            <a:off x="9192344" y="488922"/>
            <a:ext cx="2664296" cy="646331"/>
          </a:xfrm>
          <a:prstGeom prst="rect">
            <a:avLst/>
          </a:prstGeom>
          <a:noFill/>
        </p:spPr>
        <p:txBody>
          <a:bodyPr wrap="square">
            <a:spAutoFit/>
          </a:bodyPr>
          <a:lstStyle/>
          <a:p>
            <a:r>
              <a:rPr lang="en-IN" dirty="0"/>
              <a:t>🔄 </a:t>
            </a:r>
            <a:r>
              <a:rPr lang="en-IN" b="1" dirty="0"/>
              <a:t>duplicated()</a:t>
            </a:r>
            <a:r>
              <a:rPr lang="en-IN" dirty="0"/>
              <a:t> – Used to identify duplicate records.</a:t>
            </a:r>
          </a:p>
        </p:txBody>
      </p:sp>
      <p:sp>
        <p:nvSpPr>
          <p:cNvPr id="35" name="TextBox 34">
            <a:extLst>
              <a:ext uri="{FF2B5EF4-FFF2-40B4-BE49-F238E27FC236}">
                <a16:creationId xmlns:a16="http://schemas.microsoft.com/office/drawing/2014/main" id="{0EF48E33-A7C7-B605-9F60-467AE0804172}"/>
              </a:ext>
            </a:extLst>
          </p:cNvPr>
          <p:cNvSpPr txBox="1"/>
          <p:nvPr/>
        </p:nvSpPr>
        <p:spPr>
          <a:xfrm>
            <a:off x="224335" y="1107685"/>
            <a:ext cx="4133590" cy="646331"/>
          </a:xfrm>
          <a:prstGeom prst="rect">
            <a:avLst/>
          </a:prstGeom>
          <a:noFill/>
        </p:spPr>
        <p:txBody>
          <a:bodyPr wrap="square">
            <a:spAutoFit/>
          </a:bodyPr>
          <a:lstStyle/>
          <a:p>
            <a:r>
              <a:rPr lang="en-IN" dirty="0"/>
              <a:t>📐 </a:t>
            </a:r>
            <a:r>
              <a:rPr lang="en-IN" b="1" dirty="0"/>
              <a:t>Dataset Shape</a:t>
            </a:r>
            <a:r>
              <a:rPr lang="en-IN" dirty="0"/>
              <a:t> – Shows the total number of rows and columns.</a:t>
            </a:r>
          </a:p>
        </p:txBody>
      </p:sp>
      <p:pic>
        <p:nvPicPr>
          <p:cNvPr id="3" name="Picture 2">
            <a:extLst>
              <a:ext uri="{FF2B5EF4-FFF2-40B4-BE49-F238E27FC236}">
                <a16:creationId xmlns:a16="http://schemas.microsoft.com/office/drawing/2014/main" id="{D6726335-16BA-75B2-C2C7-17D2C473D0DF}"/>
              </a:ext>
            </a:extLst>
          </p:cNvPr>
          <p:cNvPicPr>
            <a:picLocks noChangeAspect="1"/>
          </p:cNvPicPr>
          <p:nvPr/>
        </p:nvPicPr>
        <p:blipFill>
          <a:blip r:embed="rId2"/>
          <a:stretch>
            <a:fillRect/>
          </a:stretch>
        </p:blipFill>
        <p:spPr>
          <a:xfrm>
            <a:off x="43096" y="4598746"/>
            <a:ext cx="4808567" cy="1917903"/>
          </a:xfrm>
          <a:prstGeom prst="rect">
            <a:avLst/>
          </a:prstGeom>
          <a:ln>
            <a:noFill/>
          </a:ln>
          <a:effectLst>
            <a:softEdge rad="112500"/>
          </a:effectLst>
        </p:spPr>
      </p:pic>
      <p:pic>
        <p:nvPicPr>
          <p:cNvPr id="5" name="Picture 4">
            <a:extLst>
              <a:ext uri="{FF2B5EF4-FFF2-40B4-BE49-F238E27FC236}">
                <a16:creationId xmlns:a16="http://schemas.microsoft.com/office/drawing/2014/main" id="{6C32C3B8-A7F9-CD49-A187-AF06E92439E4}"/>
              </a:ext>
            </a:extLst>
          </p:cNvPr>
          <p:cNvPicPr>
            <a:picLocks noChangeAspect="1"/>
          </p:cNvPicPr>
          <p:nvPr/>
        </p:nvPicPr>
        <p:blipFill>
          <a:blip r:embed="rId3"/>
          <a:stretch>
            <a:fillRect/>
          </a:stretch>
        </p:blipFill>
        <p:spPr>
          <a:xfrm>
            <a:off x="6147430" y="4601756"/>
            <a:ext cx="6044570" cy="1868774"/>
          </a:xfrm>
          <a:prstGeom prst="rect">
            <a:avLst/>
          </a:prstGeom>
          <a:ln>
            <a:noFill/>
          </a:ln>
          <a:effectLst>
            <a:softEdge rad="112500"/>
          </a:effectLst>
        </p:spPr>
      </p:pic>
      <p:pic>
        <p:nvPicPr>
          <p:cNvPr id="9" name="Picture 8">
            <a:extLst>
              <a:ext uri="{FF2B5EF4-FFF2-40B4-BE49-F238E27FC236}">
                <a16:creationId xmlns:a16="http://schemas.microsoft.com/office/drawing/2014/main" id="{CA20D2FF-48A3-9274-1A68-C4AE12499E0D}"/>
              </a:ext>
            </a:extLst>
          </p:cNvPr>
          <p:cNvPicPr>
            <a:picLocks noChangeAspect="1"/>
          </p:cNvPicPr>
          <p:nvPr/>
        </p:nvPicPr>
        <p:blipFill>
          <a:blip r:embed="rId4"/>
          <a:stretch>
            <a:fillRect/>
          </a:stretch>
        </p:blipFill>
        <p:spPr>
          <a:xfrm>
            <a:off x="5159896" y="145919"/>
            <a:ext cx="3816424" cy="1530460"/>
          </a:xfrm>
          <a:prstGeom prst="rect">
            <a:avLst/>
          </a:prstGeom>
          <a:ln>
            <a:noFill/>
          </a:ln>
          <a:effectLst>
            <a:softEdge rad="112500"/>
          </a:effectLst>
        </p:spPr>
      </p:pic>
      <p:pic>
        <p:nvPicPr>
          <p:cNvPr id="22" name="Picture 21">
            <a:extLst>
              <a:ext uri="{FF2B5EF4-FFF2-40B4-BE49-F238E27FC236}">
                <a16:creationId xmlns:a16="http://schemas.microsoft.com/office/drawing/2014/main" id="{E78C4405-691D-1C44-3EF7-1B3295B347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647" y="1836710"/>
            <a:ext cx="4808992" cy="1808313"/>
          </a:xfrm>
          <a:prstGeom prst="rect">
            <a:avLst/>
          </a:prstGeom>
          <a:ln>
            <a:noFill/>
          </a:ln>
          <a:effectLst>
            <a:softEdge rad="112500"/>
          </a:effectLst>
        </p:spPr>
      </p:pic>
      <p:pic>
        <p:nvPicPr>
          <p:cNvPr id="25" name="Picture 24">
            <a:extLst>
              <a:ext uri="{FF2B5EF4-FFF2-40B4-BE49-F238E27FC236}">
                <a16:creationId xmlns:a16="http://schemas.microsoft.com/office/drawing/2014/main" id="{833F7AF3-C27E-1736-6BFC-EE296CBC6F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21449" y="1680571"/>
            <a:ext cx="5231904" cy="2651752"/>
          </a:xfrm>
          <a:prstGeom prst="rect">
            <a:avLst/>
          </a:prstGeom>
          <a:ln>
            <a:noFill/>
          </a:ln>
          <a:effectLst>
            <a:softEdge rad="112500"/>
          </a:effectLst>
        </p:spPr>
      </p:pic>
    </p:spTree>
    <p:extLst>
      <p:ext uri="{BB962C8B-B14F-4D97-AF65-F5344CB8AC3E}">
        <p14:creationId xmlns:p14="http://schemas.microsoft.com/office/powerpoint/2010/main" val="153558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0E9154-4445-1619-49C8-4E19C663A261}"/>
              </a:ext>
            </a:extLst>
          </p:cNvPr>
          <p:cNvSpPr txBox="1"/>
          <p:nvPr/>
        </p:nvSpPr>
        <p:spPr>
          <a:xfrm>
            <a:off x="3719736" y="332656"/>
            <a:ext cx="5830442" cy="984885"/>
          </a:xfrm>
          <a:prstGeom prst="rect">
            <a:avLst/>
          </a:prstGeom>
          <a:noFill/>
        </p:spPr>
        <p:txBody>
          <a:bodyPr wrap="none" rtlCol="0">
            <a:spAutoFit/>
          </a:bodyPr>
          <a:lstStyle/>
          <a:p>
            <a:r>
              <a:rPr lang="en-IN" sz="4000" b="1" dirty="0"/>
              <a:t>⚙️ DATA PREPROCESSING</a:t>
            </a:r>
          </a:p>
          <a:p>
            <a:endParaRPr lang="en-IN" dirty="0"/>
          </a:p>
        </p:txBody>
      </p:sp>
      <p:sp>
        <p:nvSpPr>
          <p:cNvPr id="15" name="TextBox 14">
            <a:extLst>
              <a:ext uri="{FF2B5EF4-FFF2-40B4-BE49-F238E27FC236}">
                <a16:creationId xmlns:a16="http://schemas.microsoft.com/office/drawing/2014/main" id="{3F0AE0CE-B41E-D36D-B603-D65D9D35C320}"/>
              </a:ext>
            </a:extLst>
          </p:cNvPr>
          <p:cNvSpPr txBox="1"/>
          <p:nvPr/>
        </p:nvSpPr>
        <p:spPr>
          <a:xfrm>
            <a:off x="5973148" y="1585008"/>
            <a:ext cx="6218852" cy="646331"/>
          </a:xfrm>
          <a:prstGeom prst="rect">
            <a:avLst/>
          </a:prstGeom>
          <a:noFill/>
        </p:spPr>
        <p:txBody>
          <a:bodyPr wrap="square">
            <a:spAutoFit/>
          </a:bodyPr>
          <a:lstStyle/>
          <a:p>
            <a:r>
              <a:rPr lang="en-IN" dirty="0"/>
              <a:t>🔽 </a:t>
            </a:r>
            <a:r>
              <a:rPr lang="en-IN" b="1" dirty="0"/>
              <a:t>Sorting Students</a:t>
            </a:r>
            <a:r>
              <a:rPr lang="en-IN" dirty="0"/>
              <a:t> – Sorts students according to their Math scores in descending order.</a:t>
            </a:r>
          </a:p>
        </p:txBody>
      </p:sp>
      <p:sp>
        <p:nvSpPr>
          <p:cNvPr id="17" name="TextBox 16">
            <a:extLst>
              <a:ext uri="{FF2B5EF4-FFF2-40B4-BE49-F238E27FC236}">
                <a16:creationId xmlns:a16="http://schemas.microsoft.com/office/drawing/2014/main" id="{D1A8F581-E43A-A797-5C80-46EFCF019882}"/>
              </a:ext>
            </a:extLst>
          </p:cNvPr>
          <p:cNvSpPr txBox="1"/>
          <p:nvPr/>
        </p:nvSpPr>
        <p:spPr>
          <a:xfrm>
            <a:off x="4727105" y="4379843"/>
            <a:ext cx="6218852" cy="646331"/>
          </a:xfrm>
          <a:prstGeom prst="rect">
            <a:avLst/>
          </a:prstGeom>
          <a:noFill/>
        </p:spPr>
        <p:txBody>
          <a:bodyPr wrap="square">
            <a:spAutoFit/>
          </a:bodyPr>
          <a:lstStyle/>
          <a:p>
            <a:r>
              <a:rPr lang="en-IN" dirty="0"/>
              <a:t>🧮 </a:t>
            </a:r>
            <a:r>
              <a:rPr lang="en-IN" b="1" dirty="0"/>
              <a:t>Total Marks</a:t>
            </a:r>
            <a:r>
              <a:rPr lang="en-IN" dirty="0"/>
              <a:t> – Calculates the total marks obtained in Math, English, and Science.</a:t>
            </a:r>
          </a:p>
        </p:txBody>
      </p:sp>
      <p:sp>
        <p:nvSpPr>
          <p:cNvPr id="19" name="TextBox 18">
            <a:extLst>
              <a:ext uri="{FF2B5EF4-FFF2-40B4-BE49-F238E27FC236}">
                <a16:creationId xmlns:a16="http://schemas.microsoft.com/office/drawing/2014/main" id="{2BA1B3FB-C71E-B9E4-2E1E-A3D95961D63A}"/>
              </a:ext>
            </a:extLst>
          </p:cNvPr>
          <p:cNvSpPr txBox="1"/>
          <p:nvPr/>
        </p:nvSpPr>
        <p:spPr>
          <a:xfrm>
            <a:off x="695400" y="6002292"/>
            <a:ext cx="6218852" cy="646331"/>
          </a:xfrm>
          <a:prstGeom prst="rect">
            <a:avLst/>
          </a:prstGeom>
          <a:noFill/>
        </p:spPr>
        <p:txBody>
          <a:bodyPr wrap="square">
            <a:spAutoFit/>
          </a:bodyPr>
          <a:lstStyle/>
          <a:p>
            <a:r>
              <a:rPr lang="en-IN" dirty="0"/>
              <a:t>📊 </a:t>
            </a:r>
            <a:r>
              <a:rPr lang="en-IN" b="1" dirty="0"/>
              <a:t>Average Marks</a:t>
            </a:r>
            <a:r>
              <a:rPr lang="en-IN" dirty="0"/>
              <a:t> – Calculates the average marks of each student across the three subjects.</a:t>
            </a:r>
          </a:p>
        </p:txBody>
      </p:sp>
      <p:sp>
        <p:nvSpPr>
          <p:cNvPr id="21" name="TextBox 20">
            <a:extLst>
              <a:ext uri="{FF2B5EF4-FFF2-40B4-BE49-F238E27FC236}">
                <a16:creationId xmlns:a16="http://schemas.microsoft.com/office/drawing/2014/main" id="{CA12F5AD-EC6D-94FF-DCD2-19F84532B82C}"/>
              </a:ext>
            </a:extLst>
          </p:cNvPr>
          <p:cNvSpPr txBox="1"/>
          <p:nvPr/>
        </p:nvSpPr>
        <p:spPr>
          <a:xfrm>
            <a:off x="165215" y="3261817"/>
            <a:ext cx="5263579" cy="646331"/>
          </a:xfrm>
          <a:prstGeom prst="rect">
            <a:avLst/>
          </a:prstGeom>
          <a:noFill/>
        </p:spPr>
        <p:txBody>
          <a:bodyPr wrap="square">
            <a:spAutoFit/>
          </a:bodyPr>
          <a:lstStyle/>
          <a:p>
            <a:r>
              <a:rPr lang="en-IN" dirty="0"/>
              <a:t>🎯 </a:t>
            </a:r>
            <a:r>
              <a:rPr lang="en-IN" b="1" dirty="0"/>
              <a:t>Extracurricular Analysis </a:t>
            </a:r>
            <a:r>
              <a:rPr lang="en-IN" dirty="0"/>
              <a:t>– Calculates the average Math score based on extracurricular activities.</a:t>
            </a:r>
          </a:p>
        </p:txBody>
      </p:sp>
      <p:pic>
        <p:nvPicPr>
          <p:cNvPr id="23" name="Picture 22">
            <a:extLst>
              <a:ext uri="{FF2B5EF4-FFF2-40B4-BE49-F238E27FC236}">
                <a16:creationId xmlns:a16="http://schemas.microsoft.com/office/drawing/2014/main" id="{9D2894B2-21F2-3EA0-1176-BE545886F5E6}"/>
              </a:ext>
            </a:extLst>
          </p:cNvPr>
          <p:cNvPicPr>
            <a:picLocks noChangeAspect="1"/>
          </p:cNvPicPr>
          <p:nvPr/>
        </p:nvPicPr>
        <p:blipFill>
          <a:blip r:embed="rId2"/>
          <a:stretch>
            <a:fillRect/>
          </a:stretch>
        </p:blipFill>
        <p:spPr>
          <a:xfrm>
            <a:off x="135871" y="1206993"/>
            <a:ext cx="5616623" cy="1950634"/>
          </a:xfrm>
          <a:prstGeom prst="rect">
            <a:avLst/>
          </a:prstGeom>
          <a:ln>
            <a:noFill/>
          </a:ln>
          <a:effectLst>
            <a:softEdge rad="112500"/>
          </a:effectLst>
        </p:spPr>
      </p:pic>
      <p:pic>
        <p:nvPicPr>
          <p:cNvPr id="25" name="Picture 24">
            <a:extLst>
              <a:ext uri="{FF2B5EF4-FFF2-40B4-BE49-F238E27FC236}">
                <a16:creationId xmlns:a16="http://schemas.microsoft.com/office/drawing/2014/main" id="{BFB6778E-B32F-AE93-E5B2-2042FE35529A}"/>
              </a:ext>
            </a:extLst>
          </p:cNvPr>
          <p:cNvPicPr>
            <a:picLocks noChangeAspect="1"/>
          </p:cNvPicPr>
          <p:nvPr/>
        </p:nvPicPr>
        <p:blipFill>
          <a:blip r:embed="rId3"/>
          <a:stretch>
            <a:fillRect/>
          </a:stretch>
        </p:blipFill>
        <p:spPr>
          <a:xfrm>
            <a:off x="5973148" y="2219800"/>
            <a:ext cx="5751480" cy="2058530"/>
          </a:xfrm>
          <a:prstGeom prst="rect">
            <a:avLst/>
          </a:prstGeom>
          <a:ln>
            <a:noFill/>
          </a:ln>
          <a:effectLst>
            <a:softEdge rad="112500"/>
          </a:effectLst>
        </p:spPr>
      </p:pic>
      <p:pic>
        <p:nvPicPr>
          <p:cNvPr id="27" name="Picture 26">
            <a:extLst>
              <a:ext uri="{FF2B5EF4-FFF2-40B4-BE49-F238E27FC236}">
                <a16:creationId xmlns:a16="http://schemas.microsoft.com/office/drawing/2014/main" id="{A49C66ED-164E-7987-D843-22E63748FCD4}"/>
              </a:ext>
            </a:extLst>
          </p:cNvPr>
          <p:cNvPicPr>
            <a:picLocks noChangeAspect="1"/>
          </p:cNvPicPr>
          <p:nvPr/>
        </p:nvPicPr>
        <p:blipFill>
          <a:blip r:embed="rId4"/>
          <a:stretch>
            <a:fillRect/>
          </a:stretch>
        </p:blipFill>
        <p:spPr>
          <a:xfrm>
            <a:off x="151557" y="3951775"/>
            <a:ext cx="4591234" cy="1944787"/>
          </a:xfrm>
          <a:prstGeom prst="rect">
            <a:avLst/>
          </a:prstGeom>
          <a:ln>
            <a:noFill/>
          </a:ln>
          <a:effectLst>
            <a:softEdge rad="112500"/>
          </a:effectLst>
        </p:spPr>
      </p:pic>
      <p:pic>
        <p:nvPicPr>
          <p:cNvPr id="31" name="Picture 30">
            <a:extLst>
              <a:ext uri="{FF2B5EF4-FFF2-40B4-BE49-F238E27FC236}">
                <a16:creationId xmlns:a16="http://schemas.microsoft.com/office/drawing/2014/main" id="{1BE02BEA-0E09-51C2-AA21-A9AC2D821EB4}"/>
              </a:ext>
            </a:extLst>
          </p:cNvPr>
          <p:cNvPicPr>
            <a:picLocks noChangeAspect="1"/>
          </p:cNvPicPr>
          <p:nvPr/>
        </p:nvPicPr>
        <p:blipFill>
          <a:blip r:embed="rId5"/>
          <a:stretch>
            <a:fillRect/>
          </a:stretch>
        </p:blipFill>
        <p:spPr>
          <a:xfrm>
            <a:off x="6506124" y="5011089"/>
            <a:ext cx="5624430" cy="1770945"/>
          </a:xfrm>
          <a:prstGeom prst="rect">
            <a:avLst/>
          </a:prstGeom>
          <a:ln>
            <a:noFill/>
          </a:ln>
          <a:effectLst>
            <a:softEdge rad="112500"/>
          </a:effectLst>
        </p:spPr>
      </p:pic>
    </p:spTree>
    <p:extLst>
      <p:ext uri="{BB962C8B-B14F-4D97-AF65-F5344CB8AC3E}">
        <p14:creationId xmlns:p14="http://schemas.microsoft.com/office/powerpoint/2010/main" val="1219781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FF5AD-6936-5736-59DB-AD2D1EE24293}"/>
              </a:ext>
            </a:extLst>
          </p:cNvPr>
          <p:cNvSpPr txBox="1"/>
          <p:nvPr/>
        </p:nvSpPr>
        <p:spPr>
          <a:xfrm>
            <a:off x="3503712" y="260648"/>
            <a:ext cx="6433110" cy="1323439"/>
          </a:xfrm>
          <a:prstGeom prst="rect">
            <a:avLst/>
          </a:prstGeom>
          <a:noFill/>
        </p:spPr>
        <p:txBody>
          <a:bodyPr wrap="square" rtlCol="0">
            <a:spAutoFit/>
          </a:bodyPr>
          <a:lstStyle/>
          <a:p>
            <a:pPr algn="ctr"/>
            <a:r>
              <a:rPr lang="en-IN" sz="4000" b="1" dirty="0"/>
              <a:t>🖥️ SYSTEM REQUIREMENTS</a:t>
            </a:r>
          </a:p>
          <a:p>
            <a:pPr algn="ctr"/>
            <a:endParaRPr lang="en-IN" sz="4000" b="1" dirty="0">
              <a:solidFill>
                <a:schemeClr val="accent2"/>
              </a:solidFill>
            </a:endParaRPr>
          </a:p>
        </p:txBody>
      </p:sp>
      <p:sp>
        <p:nvSpPr>
          <p:cNvPr id="2" name="TextBox 1">
            <a:extLst>
              <a:ext uri="{FF2B5EF4-FFF2-40B4-BE49-F238E27FC236}">
                <a16:creationId xmlns:a16="http://schemas.microsoft.com/office/drawing/2014/main" id="{9CBBAA14-344A-BD1B-3BB2-A09153BD0EF4}"/>
              </a:ext>
            </a:extLst>
          </p:cNvPr>
          <p:cNvSpPr txBox="1"/>
          <p:nvPr/>
        </p:nvSpPr>
        <p:spPr>
          <a:xfrm>
            <a:off x="119336" y="1412776"/>
            <a:ext cx="10297144" cy="5184576"/>
          </a:xfrm>
          <a:prstGeom prst="rect">
            <a:avLst/>
          </a:prstGeom>
          <a:noFill/>
        </p:spPr>
        <p:txBody>
          <a:bodyPr wrap="square" rtlCol="0">
            <a:spAutoFit/>
          </a:bodyPr>
          <a:lstStyle/>
          <a:p>
            <a:endParaRPr lang="en-IN" sz="2000" b="1" dirty="0"/>
          </a:p>
          <a:p>
            <a:r>
              <a:rPr lang="en-IN" sz="2000" dirty="0"/>
              <a:t>The project can be performed using a basic computer system with an internet connection because the analysis is carried out using Google </a:t>
            </a:r>
            <a:r>
              <a:rPr lang="en-IN" sz="2000" dirty="0" err="1"/>
              <a:t>Colab</a:t>
            </a:r>
            <a:r>
              <a:rPr lang="en-IN" sz="2000" dirty="0"/>
              <a:t>.</a:t>
            </a:r>
          </a:p>
          <a:p>
            <a:endParaRPr lang="en-IN" sz="2000" dirty="0"/>
          </a:p>
          <a:p>
            <a:pPr lvl="0"/>
            <a:r>
              <a:rPr lang="en-IN" sz="2000" dirty="0"/>
              <a:t>💻 </a:t>
            </a:r>
            <a:r>
              <a:rPr lang="en-IN" sz="2000" b="1" dirty="0"/>
              <a:t>Computer/Laptop</a:t>
            </a:r>
            <a:r>
              <a:rPr lang="en-IN" sz="2000" dirty="0"/>
              <a:t> – Required to access and run the project.</a:t>
            </a:r>
          </a:p>
          <a:p>
            <a:pPr lvl="0"/>
            <a:r>
              <a:rPr lang="en-IN" sz="2000" dirty="0"/>
              <a:t> </a:t>
            </a:r>
          </a:p>
          <a:p>
            <a:pPr lvl="0"/>
            <a:r>
              <a:rPr lang="en-IN" sz="2000" dirty="0"/>
              <a:t>🌐 </a:t>
            </a:r>
            <a:r>
              <a:rPr lang="en-IN" sz="2000" b="1" dirty="0"/>
              <a:t>Internet Connection</a:t>
            </a:r>
            <a:r>
              <a:rPr lang="en-IN" sz="2000" dirty="0"/>
              <a:t> – Required for Google </a:t>
            </a:r>
            <a:r>
              <a:rPr lang="en-IN" sz="2000" dirty="0" err="1"/>
              <a:t>Colab</a:t>
            </a:r>
            <a:r>
              <a:rPr lang="en-IN" sz="2000" dirty="0"/>
              <a:t> and Google Drive. </a:t>
            </a:r>
          </a:p>
          <a:p>
            <a:pPr lvl="0"/>
            <a:endParaRPr lang="en-IN" sz="2000" dirty="0"/>
          </a:p>
          <a:p>
            <a:pPr lvl="0"/>
            <a:r>
              <a:rPr lang="en-IN" sz="2000" dirty="0"/>
              <a:t>☁️ </a:t>
            </a:r>
            <a:r>
              <a:rPr lang="en-IN" sz="2000" b="1" dirty="0"/>
              <a:t>Google Account</a:t>
            </a:r>
            <a:r>
              <a:rPr lang="en-IN" sz="2000" dirty="0"/>
              <a:t> – Required to access Google </a:t>
            </a:r>
            <a:r>
              <a:rPr lang="en-IN" sz="2000" dirty="0" err="1"/>
              <a:t>Colab</a:t>
            </a:r>
            <a:r>
              <a:rPr lang="en-IN" sz="2000" dirty="0"/>
              <a:t>. </a:t>
            </a:r>
          </a:p>
          <a:p>
            <a:pPr lvl="0"/>
            <a:endParaRPr lang="en-IN" sz="2000" dirty="0"/>
          </a:p>
          <a:p>
            <a:pPr lvl="0"/>
            <a:r>
              <a:rPr lang="en-IN" sz="2000" dirty="0"/>
              <a:t>🧠 </a:t>
            </a:r>
            <a:r>
              <a:rPr lang="en-IN" sz="2000" b="1" dirty="0"/>
              <a:t>RAM</a:t>
            </a:r>
            <a:r>
              <a:rPr lang="en-IN" sz="2000" dirty="0"/>
              <a:t> – 4 GB or above is recommended. </a:t>
            </a:r>
          </a:p>
          <a:p>
            <a:pPr lvl="0"/>
            <a:endParaRPr lang="en-IN" sz="2000" dirty="0"/>
          </a:p>
          <a:p>
            <a:pPr lvl="0"/>
            <a:r>
              <a:rPr lang="en-IN" sz="2000" dirty="0"/>
              <a:t>🌐 </a:t>
            </a:r>
            <a:r>
              <a:rPr lang="en-IN" sz="2000" b="1" dirty="0"/>
              <a:t>Web Browser</a:t>
            </a:r>
            <a:r>
              <a:rPr lang="en-IN" sz="2000" dirty="0"/>
              <a:t> – Chrome, Edge, or Firefox can be used. </a:t>
            </a:r>
          </a:p>
          <a:p>
            <a:pPr lvl="0"/>
            <a:endParaRPr lang="en-IN" sz="2000" dirty="0"/>
          </a:p>
          <a:p>
            <a:pPr lvl="0"/>
            <a:r>
              <a:rPr lang="en-IN" sz="2000" dirty="0"/>
              <a:t>💾 </a:t>
            </a:r>
            <a:r>
              <a:rPr lang="en-IN" sz="2000" b="1" dirty="0"/>
              <a:t>Storage</a:t>
            </a:r>
            <a:r>
              <a:rPr lang="en-IN" sz="2000" dirty="0"/>
              <a:t> – Required for storing the CSV dataset and project files.</a:t>
            </a:r>
          </a:p>
          <a:p>
            <a:endParaRPr lang="en-IN" dirty="0"/>
          </a:p>
        </p:txBody>
      </p:sp>
      <p:pic>
        <p:nvPicPr>
          <p:cNvPr id="6" name="Picture 5">
            <a:extLst>
              <a:ext uri="{FF2B5EF4-FFF2-40B4-BE49-F238E27FC236}">
                <a16:creationId xmlns:a16="http://schemas.microsoft.com/office/drawing/2014/main" id="{C9A0D2F2-ED91-67C8-281F-410828AB9053}"/>
              </a:ext>
            </a:extLst>
          </p:cNvPr>
          <p:cNvPicPr>
            <a:picLocks noChangeAspect="1"/>
          </p:cNvPicPr>
          <p:nvPr/>
        </p:nvPicPr>
        <p:blipFill>
          <a:blip r:embed="rId2"/>
          <a:stretch>
            <a:fillRect/>
          </a:stretch>
        </p:blipFill>
        <p:spPr>
          <a:xfrm>
            <a:off x="7955052" y="2348880"/>
            <a:ext cx="3963539" cy="3983193"/>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1987325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4DB4251-3686-412C-DCF3-C01E186E446F}"/>
              </a:ext>
            </a:extLst>
          </p:cNvPr>
          <p:cNvSpPr txBox="1"/>
          <p:nvPr/>
        </p:nvSpPr>
        <p:spPr>
          <a:xfrm>
            <a:off x="767408" y="1556792"/>
            <a:ext cx="8315632" cy="4401205"/>
          </a:xfrm>
          <a:prstGeom prst="rect">
            <a:avLst/>
          </a:prstGeom>
          <a:noFill/>
        </p:spPr>
        <p:txBody>
          <a:bodyPr wrap="square">
            <a:spAutoFit/>
          </a:bodyPr>
          <a:lstStyle/>
          <a:p>
            <a:pPr>
              <a:buNone/>
            </a:pPr>
            <a:r>
              <a:rPr lang="en-IN" sz="2000" dirty="0"/>
              <a:t>The project uses a combination of Python libraries and cloud-based tools to clean, process, </a:t>
            </a:r>
            <a:r>
              <a:rPr lang="en-IN" sz="2000" dirty="0" err="1"/>
              <a:t>analyze</a:t>
            </a:r>
            <a:r>
              <a:rPr lang="en-IN" sz="2000" dirty="0"/>
              <a:t>, and visualize the student dataset.</a:t>
            </a:r>
          </a:p>
          <a:p>
            <a:pPr>
              <a:buNone/>
            </a:pPr>
            <a:endParaRPr lang="en-IN" sz="2000" dirty="0"/>
          </a:p>
          <a:p>
            <a:pPr marL="342900" lvl="0" indent="-342900">
              <a:buFont typeface="Arial" panose="020B0604020202020204" pitchFamily="34" charset="0"/>
              <a:buChar char="•"/>
            </a:pPr>
            <a:r>
              <a:rPr lang="en-IN" sz="2000" dirty="0"/>
              <a:t>🐍 </a:t>
            </a:r>
            <a:r>
              <a:rPr lang="en-IN" sz="2000" b="1" dirty="0"/>
              <a:t>Python</a:t>
            </a:r>
            <a:r>
              <a:rPr lang="en-IN" sz="2000" dirty="0"/>
              <a:t> – Used for programming and data analysis.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Pandas</a:t>
            </a:r>
            <a:r>
              <a:rPr lang="en-IN" sz="2000" dirty="0"/>
              <a:t> – Used for data cleaning and manipulation.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NumPy</a:t>
            </a:r>
            <a:r>
              <a:rPr lang="en-IN" sz="2000" dirty="0"/>
              <a:t> – Used for numerical calculations.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Matplotlib</a:t>
            </a:r>
            <a:r>
              <a:rPr lang="en-IN" sz="2000" dirty="0"/>
              <a:t> – Used to create graphs and visualizations.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Google </a:t>
            </a:r>
            <a:r>
              <a:rPr lang="en-IN" sz="2000" b="1" dirty="0" err="1"/>
              <a:t>Colab</a:t>
            </a:r>
            <a:r>
              <a:rPr lang="en-IN" sz="2000" dirty="0"/>
              <a:t> – Used to write and execute Python code.</a:t>
            </a:r>
          </a:p>
          <a:p>
            <a:pPr lvl="0"/>
            <a:r>
              <a:rPr lang="en-IN" sz="2000" dirty="0"/>
              <a:t> </a:t>
            </a:r>
          </a:p>
          <a:p>
            <a:pPr marL="342900" lvl="0" indent="-342900">
              <a:buFont typeface="Arial" panose="020B0604020202020204" pitchFamily="34" charset="0"/>
              <a:buChar char="•"/>
            </a:pPr>
            <a:r>
              <a:rPr lang="en-IN" sz="2000" dirty="0"/>
              <a:t>📄 </a:t>
            </a:r>
            <a:r>
              <a:rPr lang="en-IN" sz="2000" b="1" dirty="0"/>
              <a:t>CSV</a:t>
            </a:r>
            <a:r>
              <a:rPr lang="en-IN" sz="2000" dirty="0"/>
              <a:t> – Used as the dataset file format.</a:t>
            </a:r>
          </a:p>
        </p:txBody>
      </p:sp>
      <p:sp>
        <p:nvSpPr>
          <p:cNvPr id="10" name="TextBox 9">
            <a:extLst>
              <a:ext uri="{FF2B5EF4-FFF2-40B4-BE49-F238E27FC236}">
                <a16:creationId xmlns:a16="http://schemas.microsoft.com/office/drawing/2014/main" id="{C2B9A1DF-74B7-EB20-DCFD-82820306732C}"/>
              </a:ext>
            </a:extLst>
          </p:cNvPr>
          <p:cNvSpPr txBox="1"/>
          <p:nvPr/>
        </p:nvSpPr>
        <p:spPr>
          <a:xfrm>
            <a:off x="4583832" y="332656"/>
            <a:ext cx="7058000" cy="707886"/>
          </a:xfrm>
          <a:prstGeom prst="rect">
            <a:avLst/>
          </a:prstGeom>
          <a:noFill/>
        </p:spPr>
        <p:txBody>
          <a:bodyPr wrap="square">
            <a:spAutoFit/>
          </a:bodyPr>
          <a:lstStyle/>
          <a:p>
            <a:pPr>
              <a:buNone/>
            </a:pPr>
            <a:r>
              <a:rPr lang="en-IN" sz="4000" b="1" dirty="0"/>
              <a:t>💻 TECH STACK</a:t>
            </a:r>
          </a:p>
        </p:txBody>
      </p:sp>
      <p:pic>
        <p:nvPicPr>
          <p:cNvPr id="12" name="Picture 11">
            <a:extLst>
              <a:ext uri="{FF2B5EF4-FFF2-40B4-BE49-F238E27FC236}">
                <a16:creationId xmlns:a16="http://schemas.microsoft.com/office/drawing/2014/main" id="{91D51BC8-8D4E-6466-8EB0-A11A32447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2978" y="2241326"/>
            <a:ext cx="3752990" cy="371667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970995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1CA1A4-C9FA-E534-A46A-30393566C423}"/>
              </a:ext>
            </a:extLst>
          </p:cNvPr>
          <p:cNvSpPr>
            <a:spLocks noGrp="1"/>
          </p:cNvSpPr>
          <p:nvPr>
            <p:ph type="sldNum" sz="quarter" idx="13"/>
          </p:nvPr>
        </p:nvSpPr>
        <p:spPr/>
        <p:txBody>
          <a:bodyPr/>
          <a:lstStyle/>
          <a:p>
            <a:fld id="{326EF2E3-409D-4D76-AD02-397A36B0DAF9}" type="slidenum">
              <a:rPr lang="en-US" smtClean="0"/>
              <a:pPr/>
              <a:t>14</a:t>
            </a:fld>
            <a:endParaRPr lang="en-US"/>
          </a:p>
        </p:txBody>
      </p:sp>
      <p:sp>
        <p:nvSpPr>
          <p:cNvPr id="8" name="TextBox 7">
            <a:extLst>
              <a:ext uri="{FF2B5EF4-FFF2-40B4-BE49-F238E27FC236}">
                <a16:creationId xmlns:a16="http://schemas.microsoft.com/office/drawing/2014/main" id="{67489B44-B79E-0E15-81DA-ADA679801744}"/>
              </a:ext>
            </a:extLst>
          </p:cNvPr>
          <p:cNvSpPr txBox="1"/>
          <p:nvPr/>
        </p:nvSpPr>
        <p:spPr>
          <a:xfrm>
            <a:off x="1194912" y="1735088"/>
            <a:ext cx="272652" cy="400110"/>
          </a:xfrm>
          <a:prstGeom prst="rect">
            <a:avLst/>
          </a:prstGeom>
          <a:noFill/>
        </p:spPr>
        <p:txBody>
          <a:bodyPr wrap="square">
            <a:spAutoFit/>
          </a:bodyPr>
          <a:lstStyle/>
          <a:p>
            <a:endParaRPr lang="en-IN" sz="2000" dirty="0"/>
          </a:p>
        </p:txBody>
      </p:sp>
      <p:sp>
        <p:nvSpPr>
          <p:cNvPr id="12" name="TextBox 11">
            <a:extLst>
              <a:ext uri="{FF2B5EF4-FFF2-40B4-BE49-F238E27FC236}">
                <a16:creationId xmlns:a16="http://schemas.microsoft.com/office/drawing/2014/main" id="{3EF3C80D-3204-DC22-FA31-53388959B561}"/>
              </a:ext>
            </a:extLst>
          </p:cNvPr>
          <p:cNvSpPr txBox="1"/>
          <p:nvPr/>
        </p:nvSpPr>
        <p:spPr>
          <a:xfrm>
            <a:off x="1174988" y="2137062"/>
            <a:ext cx="272652" cy="400110"/>
          </a:xfrm>
          <a:prstGeom prst="rect">
            <a:avLst/>
          </a:prstGeom>
          <a:noFill/>
        </p:spPr>
        <p:txBody>
          <a:bodyPr wrap="square">
            <a:spAutoFit/>
          </a:bodyPr>
          <a:lstStyle/>
          <a:p>
            <a:endParaRPr lang="en-IN" sz="2000" dirty="0"/>
          </a:p>
        </p:txBody>
      </p:sp>
      <p:sp>
        <p:nvSpPr>
          <p:cNvPr id="14" name="TextBox 13">
            <a:extLst>
              <a:ext uri="{FF2B5EF4-FFF2-40B4-BE49-F238E27FC236}">
                <a16:creationId xmlns:a16="http://schemas.microsoft.com/office/drawing/2014/main" id="{EAD1C68C-69C9-6B4D-0658-E29782CAACFD}"/>
              </a:ext>
            </a:extLst>
          </p:cNvPr>
          <p:cNvSpPr txBox="1"/>
          <p:nvPr/>
        </p:nvSpPr>
        <p:spPr>
          <a:xfrm>
            <a:off x="1194912" y="2539036"/>
            <a:ext cx="272652" cy="400110"/>
          </a:xfrm>
          <a:prstGeom prst="rect">
            <a:avLst/>
          </a:prstGeom>
          <a:noFill/>
        </p:spPr>
        <p:txBody>
          <a:bodyPr wrap="square">
            <a:spAutoFit/>
          </a:bodyPr>
          <a:lstStyle/>
          <a:p>
            <a:endParaRPr lang="en-IN" sz="2000" dirty="0"/>
          </a:p>
        </p:txBody>
      </p:sp>
      <p:sp>
        <p:nvSpPr>
          <p:cNvPr id="18" name="TextBox 17">
            <a:extLst>
              <a:ext uri="{FF2B5EF4-FFF2-40B4-BE49-F238E27FC236}">
                <a16:creationId xmlns:a16="http://schemas.microsoft.com/office/drawing/2014/main" id="{B63707E4-9942-FB0B-D4A7-E2E9FFEDF22C}"/>
              </a:ext>
            </a:extLst>
          </p:cNvPr>
          <p:cNvSpPr txBox="1"/>
          <p:nvPr/>
        </p:nvSpPr>
        <p:spPr>
          <a:xfrm>
            <a:off x="1194912" y="2978145"/>
            <a:ext cx="272652" cy="400110"/>
          </a:xfrm>
          <a:prstGeom prst="rect">
            <a:avLst/>
          </a:prstGeom>
          <a:noFill/>
        </p:spPr>
        <p:txBody>
          <a:bodyPr wrap="square">
            <a:spAutoFit/>
          </a:bodyPr>
          <a:lstStyle/>
          <a:p>
            <a:endParaRPr lang="en-IN" sz="2000" dirty="0"/>
          </a:p>
        </p:txBody>
      </p:sp>
      <p:sp>
        <p:nvSpPr>
          <p:cNvPr id="21" name="TextBox 20">
            <a:extLst>
              <a:ext uri="{FF2B5EF4-FFF2-40B4-BE49-F238E27FC236}">
                <a16:creationId xmlns:a16="http://schemas.microsoft.com/office/drawing/2014/main" id="{6EA5E097-FB72-C08F-23C6-CC801525800B}"/>
              </a:ext>
            </a:extLst>
          </p:cNvPr>
          <p:cNvSpPr txBox="1"/>
          <p:nvPr/>
        </p:nvSpPr>
        <p:spPr>
          <a:xfrm>
            <a:off x="1194912" y="3848692"/>
            <a:ext cx="272652" cy="400110"/>
          </a:xfrm>
          <a:prstGeom prst="rect">
            <a:avLst/>
          </a:prstGeom>
          <a:noFill/>
        </p:spPr>
        <p:txBody>
          <a:bodyPr wrap="square">
            <a:spAutoFit/>
          </a:bodyPr>
          <a:lstStyle/>
          <a:p>
            <a:endParaRPr lang="en-IN" sz="2000" dirty="0"/>
          </a:p>
        </p:txBody>
      </p:sp>
      <p:sp>
        <p:nvSpPr>
          <p:cNvPr id="2" name="Rectangle 1"/>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7" name="TextBox 6">
            <a:extLst>
              <a:ext uri="{FF2B5EF4-FFF2-40B4-BE49-F238E27FC236}">
                <a16:creationId xmlns:a16="http://schemas.microsoft.com/office/drawing/2014/main" id="{AC4A56E9-266F-FD69-24F3-DFBC332E3230}"/>
              </a:ext>
            </a:extLst>
          </p:cNvPr>
          <p:cNvSpPr txBox="1"/>
          <p:nvPr/>
        </p:nvSpPr>
        <p:spPr>
          <a:xfrm>
            <a:off x="1" y="1265400"/>
            <a:ext cx="8184232" cy="5324535"/>
          </a:xfrm>
          <a:prstGeom prst="rect">
            <a:avLst/>
          </a:prstGeom>
          <a:noFill/>
        </p:spPr>
        <p:txBody>
          <a:bodyPr wrap="square">
            <a:spAutoFit/>
          </a:bodyPr>
          <a:lstStyle/>
          <a:p>
            <a:pPr marL="342900" lvl="0" indent="-342900">
              <a:buFont typeface="Arial" panose="020B0604020202020204" pitchFamily="34" charset="0"/>
              <a:buChar char="•"/>
            </a:pPr>
            <a:r>
              <a:rPr lang="en-IN" sz="2000" dirty="0"/>
              <a:t>🤖 </a:t>
            </a:r>
            <a:r>
              <a:rPr lang="en-IN" sz="2000" b="1" dirty="0"/>
              <a:t>Performance Prediction</a:t>
            </a:r>
            <a:r>
              <a:rPr lang="en-IN" sz="2000" dirty="0"/>
              <a:t> – Use machine learning to predict student performance.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Early Identification</a:t>
            </a:r>
            <a:r>
              <a:rPr lang="en-IN" sz="2000" dirty="0"/>
              <a:t> – Identify students who may need academic support.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Personalized Recommendations</a:t>
            </a:r>
            <a:r>
              <a:rPr lang="en-IN" sz="2000" dirty="0"/>
              <a:t> – Provide study suggestions based on individual performance.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Interactive Dashboard</a:t>
            </a:r>
            <a:r>
              <a:rPr lang="en-IN" sz="2000" dirty="0"/>
              <a:t> – Create a dashboard for teachers to monitor student performance.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a:t>
            </a:r>
            <a:r>
              <a:rPr lang="en-IN" sz="2000" b="1" dirty="0"/>
              <a:t>More Factors</a:t>
            </a:r>
            <a:r>
              <a:rPr lang="en-IN" sz="2000" dirty="0"/>
              <a:t> – Include additional factors such as learning </a:t>
            </a:r>
            <a:r>
              <a:rPr lang="en-IN" sz="2000" dirty="0" err="1"/>
              <a:t>behavior</a:t>
            </a:r>
            <a:r>
              <a:rPr lang="en-IN" sz="2000" dirty="0"/>
              <a:t> and study patters.</a:t>
            </a:r>
          </a:p>
          <a:p>
            <a:pPr lvl="0"/>
            <a:r>
              <a:rPr lang="en-IN" sz="2000" dirty="0"/>
              <a:t> </a:t>
            </a:r>
          </a:p>
          <a:p>
            <a:pPr marL="342900" lvl="0" indent="-342900">
              <a:buFont typeface="Arial" panose="020B0604020202020204" pitchFamily="34" charset="0"/>
              <a:buChar char="•"/>
            </a:pPr>
            <a:r>
              <a:rPr lang="en-IN" sz="2000" dirty="0"/>
              <a:t>📈 </a:t>
            </a:r>
            <a:r>
              <a:rPr lang="en-IN" sz="2000" b="1" dirty="0"/>
              <a:t>Real-Time Analysis</a:t>
            </a:r>
            <a:r>
              <a:rPr lang="en-IN" sz="2000" dirty="0"/>
              <a:t> – Update and </a:t>
            </a:r>
            <a:r>
              <a:rPr lang="en-IN" sz="2000" dirty="0" err="1"/>
              <a:t>analyze</a:t>
            </a:r>
            <a:r>
              <a:rPr lang="en-IN" sz="2000" dirty="0"/>
              <a:t> student performance data regularly. </a:t>
            </a:r>
          </a:p>
        </p:txBody>
      </p:sp>
      <p:sp>
        <p:nvSpPr>
          <p:cNvPr id="9" name="TextBox 8">
            <a:extLst>
              <a:ext uri="{FF2B5EF4-FFF2-40B4-BE49-F238E27FC236}">
                <a16:creationId xmlns:a16="http://schemas.microsoft.com/office/drawing/2014/main" id="{CFDDFF32-ABF9-879B-A50C-06BB6D4F0952}"/>
              </a:ext>
            </a:extLst>
          </p:cNvPr>
          <p:cNvSpPr txBox="1"/>
          <p:nvPr/>
        </p:nvSpPr>
        <p:spPr>
          <a:xfrm>
            <a:off x="3503712" y="300299"/>
            <a:ext cx="6480720" cy="984885"/>
          </a:xfrm>
          <a:prstGeom prst="rect">
            <a:avLst/>
          </a:prstGeom>
          <a:noFill/>
        </p:spPr>
        <p:txBody>
          <a:bodyPr wrap="square" rtlCol="0">
            <a:spAutoFit/>
          </a:bodyPr>
          <a:lstStyle/>
          <a:p>
            <a:r>
              <a:rPr lang="en-IN" sz="4000" b="1" dirty="0"/>
              <a:t>🚀 FUTURE ENHANCEMENTS</a:t>
            </a:r>
          </a:p>
          <a:p>
            <a:endParaRPr lang="en-IN" dirty="0"/>
          </a:p>
        </p:txBody>
      </p:sp>
      <p:pic>
        <p:nvPicPr>
          <p:cNvPr id="11" name="Picture 10" descr="Pastel workspace setup">
            <a:extLst>
              <a:ext uri="{FF2B5EF4-FFF2-40B4-BE49-F238E27FC236}">
                <a16:creationId xmlns:a16="http://schemas.microsoft.com/office/drawing/2014/main" id="{E72529E1-A61F-D129-2764-BCF2971A88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3008" y="2708920"/>
            <a:ext cx="4110236" cy="2761565"/>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4023410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2FB652-B75D-EE74-3C9C-AA9E0C1AC5DE}"/>
              </a:ext>
            </a:extLst>
          </p:cNvPr>
          <p:cNvSpPr txBox="1"/>
          <p:nvPr/>
        </p:nvSpPr>
        <p:spPr>
          <a:xfrm>
            <a:off x="4469247" y="260648"/>
            <a:ext cx="3642977" cy="707886"/>
          </a:xfrm>
          <a:prstGeom prst="rect">
            <a:avLst/>
          </a:prstGeom>
          <a:noFill/>
        </p:spPr>
        <p:txBody>
          <a:bodyPr wrap="square" rtlCol="0">
            <a:spAutoFit/>
          </a:bodyPr>
          <a:lstStyle/>
          <a:p>
            <a:pPr algn="ctr"/>
            <a:r>
              <a:rPr sz="4000" b="1" dirty="0">
                <a:solidFill>
                  <a:srgbClr val="FFC000"/>
                </a:solidFill>
              </a:rPr>
              <a:t>Conclusion</a:t>
            </a:r>
          </a:p>
        </p:txBody>
      </p:sp>
      <p:sp>
        <p:nvSpPr>
          <p:cNvPr id="3" name="TextBox 2">
            <a:extLst>
              <a:ext uri="{FF2B5EF4-FFF2-40B4-BE49-F238E27FC236}">
                <a16:creationId xmlns:a16="http://schemas.microsoft.com/office/drawing/2014/main" id="{D6FDA8F9-0B70-D839-5408-D9A25BA581D4}"/>
              </a:ext>
            </a:extLst>
          </p:cNvPr>
          <p:cNvSpPr txBox="1"/>
          <p:nvPr/>
        </p:nvSpPr>
        <p:spPr>
          <a:xfrm>
            <a:off x="395028" y="1340768"/>
            <a:ext cx="11401944" cy="4708981"/>
          </a:xfrm>
          <a:prstGeom prst="rect">
            <a:avLst/>
          </a:prstGeom>
          <a:noFill/>
        </p:spPr>
        <p:txBody>
          <a:bodyPr wrap="square">
            <a:spAutoFit/>
          </a:bodyPr>
          <a:lstStyle/>
          <a:p>
            <a:pPr>
              <a:buNone/>
            </a:pPr>
            <a:r>
              <a:rPr lang="en-IN" sz="2000" dirty="0"/>
              <a:t>The Student Data Performance Analysis project helps us understand student academic performance by </a:t>
            </a:r>
            <a:r>
              <a:rPr lang="en-IN" sz="2000" dirty="0" err="1"/>
              <a:t>analyzing</a:t>
            </a:r>
            <a:r>
              <a:rPr lang="en-IN" sz="2000" dirty="0"/>
              <a:t> different factors related to their studies. The dataset was cleaned, processed, and </a:t>
            </a:r>
            <a:r>
              <a:rPr lang="en-IN" sz="2000" dirty="0" err="1"/>
              <a:t>analyzed</a:t>
            </a:r>
            <a:r>
              <a:rPr lang="en-IN" sz="2000" dirty="0"/>
              <a:t> using Python tools to identify useful patterns and insights.</a:t>
            </a:r>
          </a:p>
          <a:p>
            <a:pPr>
              <a:buNone/>
            </a:pPr>
            <a:endParaRPr lang="en-IN" sz="2000" dirty="0"/>
          </a:p>
          <a:p>
            <a:pPr marL="342900" lvl="0" indent="-342900">
              <a:buFont typeface="Arial" panose="020B0604020202020204" pitchFamily="34" charset="0"/>
              <a:buChar char="•"/>
            </a:pPr>
            <a:r>
              <a:rPr lang="en-IN" sz="2000" dirty="0"/>
              <a:t>🎓 Student performance was </a:t>
            </a:r>
            <a:r>
              <a:rPr lang="en-IN" sz="2000" dirty="0" err="1"/>
              <a:t>analyzed</a:t>
            </a:r>
            <a:r>
              <a:rPr lang="en-IN" sz="2000" dirty="0"/>
              <a:t> using different academic factors.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dataset was cleaned and prepared for analysis.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Data preprocessing helped make the data suitable for analysis.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Charts and visualizations made the results easier to understand.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Important patterns related to student performance were identified. </a:t>
            </a:r>
          </a:p>
          <a:p>
            <a:pPr marL="342900" lvl="0" indent="-342900">
              <a:buFont typeface="Arial" panose="020B0604020202020204" pitchFamily="34" charset="0"/>
              <a:buChar char="•"/>
            </a:pPr>
            <a:endParaRPr lang="en-IN" sz="2000" dirty="0"/>
          </a:p>
          <a:p>
            <a:pPr marL="342900" lvl="0" indent="-342900">
              <a:buFont typeface="Arial" panose="020B0604020202020204" pitchFamily="34" charset="0"/>
              <a:buChar char="•"/>
            </a:pPr>
            <a:r>
              <a:rPr lang="en-IN" sz="2000" dirty="0"/>
              <a:t>💡 The analysis can help in making better decisions to improve student academic performance.</a:t>
            </a:r>
          </a:p>
        </p:txBody>
      </p:sp>
    </p:spTree>
    <p:extLst>
      <p:ext uri="{BB962C8B-B14F-4D97-AF65-F5344CB8AC3E}">
        <p14:creationId xmlns:p14="http://schemas.microsoft.com/office/powerpoint/2010/main" val="1786454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9AF36B-2F97-921F-A5F4-E5EFF54D7DA2}"/>
              </a:ext>
            </a:extLst>
          </p:cNvPr>
          <p:cNvSpPr txBox="1"/>
          <p:nvPr/>
        </p:nvSpPr>
        <p:spPr>
          <a:xfrm>
            <a:off x="3744602" y="476672"/>
            <a:ext cx="5663730" cy="707886"/>
          </a:xfrm>
          <a:prstGeom prst="rect">
            <a:avLst/>
          </a:prstGeom>
          <a:noFill/>
        </p:spPr>
        <p:txBody>
          <a:bodyPr wrap="none" rtlCol="0">
            <a:spAutoFit/>
          </a:bodyPr>
          <a:lstStyle/>
          <a:p>
            <a:r>
              <a:rPr lang="en-US" sz="4000" b="1">
                <a:solidFill>
                  <a:srgbClr val="00B050"/>
                </a:solidFill>
              </a:rPr>
              <a:t>PERFORMANCE ANALYSIS</a:t>
            </a:r>
            <a:endParaRPr lang="en-IN" sz="4000" b="1" dirty="0">
              <a:solidFill>
                <a:srgbClr val="00B050"/>
              </a:solidFill>
            </a:endParaRPr>
          </a:p>
        </p:txBody>
      </p:sp>
      <p:sp>
        <p:nvSpPr>
          <p:cNvPr id="8" name="TextBox 7">
            <a:extLst>
              <a:ext uri="{FF2B5EF4-FFF2-40B4-BE49-F238E27FC236}">
                <a16:creationId xmlns:a16="http://schemas.microsoft.com/office/drawing/2014/main" id="{6F6964CB-ADC4-D254-61DF-CA07F9203840}"/>
              </a:ext>
            </a:extLst>
          </p:cNvPr>
          <p:cNvSpPr txBox="1"/>
          <p:nvPr/>
        </p:nvSpPr>
        <p:spPr>
          <a:xfrm>
            <a:off x="911424" y="1916832"/>
            <a:ext cx="6218852" cy="3693319"/>
          </a:xfrm>
          <a:prstGeom prst="rect">
            <a:avLst/>
          </a:prstGeom>
          <a:noFill/>
        </p:spPr>
        <p:txBody>
          <a:bodyPr wrap="square">
            <a:spAutoFit/>
          </a:bodyPr>
          <a:lstStyle/>
          <a:p>
            <a:pPr>
              <a:lnSpc>
                <a:spcPct val="100000"/>
              </a:lnSpc>
              <a:buNone/>
            </a:pPr>
            <a:r>
              <a:rPr lang="en-IN" sz="1800" b="0" dirty="0">
                <a:solidFill>
                  <a:schemeClr val="tx1"/>
                </a:solidFill>
                <a:effectLst/>
                <a:latin typeface="+mn-lt"/>
              </a:rPr>
              <a:t>#performance category</a:t>
            </a:r>
          </a:p>
          <a:p>
            <a:pPr>
              <a:lnSpc>
                <a:spcPct val="100000"/>
              </a:lnSpc>
              <a:buNone/>
            </a:pPr>
            <a:r>
              <a:rPr lang="en-IN" sz="1800" b="0" dirty="0">
                <a:solidFill>
                  <a:schemeClr val="tx1"/>
                </a:solidFill>
                <a:effectLst/>
                <a:latin typeface="+mn-lt"/>
              </a:rPr>
              <a:t>import pandas as pd</a:t>
            </a:r>
          </a:p>
          <a:p>
            <a:pPr>
              <a:lnSpc>
                <a:spcPct val="100000"/>
              </a:lnSpc>
              <a:buNone/>
            </a:pPr>
            <a:r>
              <a:rPr lang="en-IN" sz="1800" b="0" dirty="0">
                <a:solidFill>
                  <a:schemeClr val="tx1"/>
                </a:solidFill>
                <a:effectLst/>
                <a:latin typeface="+mn-lt"/>
              </a:rPr>
              <a:t>import </a:t>
            </a:r>
            <a:r>
              <a:rPr lang="en-IN" sz="1800" b="0" dirty="0" err="1">
                <a:solidFill>
                  <a:schemeClr val="tx1"/>
                </a:solidFill>
                <a:effectLst/>
                <a:latin typeface="+mn-lt"/>
              </a:rPr>
              <a:t>numpy</a:t>
            </a:r>
            <a:r>
              <a:rPr lang="en-IN" sz="1800" b="0" dirty="0">
                <a:solidFill>
                  <a:schemeClr val="tx1"/>
                </a:solidFill>
                <a:effectLst/>
                <a:latin typeface="+mn-lt"/>
              </a:rPr>
              <a:t> as np</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data['performance'] = </a:t>
            </a:r>
            <a:r>
              <a:rPr lang="en-IN" sz="1800" b="0" dirty="0" err="1">
                <a:solidFill>
                  <a:schemeClr val="tx1"/>
                </a:solidFill>
                <a:effectLst/>
                <a:latin typeface="+mn-lt"/>
              </a:rPr>
              <a:t>np.where</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data['</a:t>
            </a:r>
            <a:r>
              <a:rPr lang="en-IN" sz="1800" b="0" dirty="0" err="1">
                <a:solidFill>
                  <a:schemeClr val="tx1"/>
                </a:solidFill>
                <a:effectLst/>
                <a:latin typeface="+mn-lt"/>
              </a:rPr>
              <a:t>overall_score</a:t>
            </a:r>
            <a:r>
              <a:rPr lang="en-IN" sz="1800" b="0" dirty="0">
                <a:solidFill>
                  <a:schemeClr val="tx1"/>
                </a:solidFill>
                <a:effectLst/>
                <a:latin typeface="+mn-lt"/>
              </a:rPr>
              <a:t>'] &gt;= 80,</a:t>
            </a:r>
          </a:p>
          <a:p>
            <a:pPr>
              <a:lnSpc>
                <a:spcPct val="100000"/>
              </a:lnSpc>
              <a:buNone/>
            </a:pPr>
            <a:r>
              <a:rPr lang="en-IN" sz="1800" b="0" dirty="0">
                <a:solidFill>
                  <a:schemeClr val="tx1"/>
                </a:solidFill>
                <a:effectLst/>
                <a:latin typeface="+mn-lt"/>
              </a:rPr>
              <a:t>    'Excellent',</a:t>
            </a:r>
          </a:p>
          <a:p>
            <a:pPr>
              <a:lnSpc>
                <a:spcPct val="100000"/>
              </a:lnSpc>
              <a:buNone/>
            </a:pPr>
            <a:r>
              <a:rPr lang="en-IN" sz="1800" b="0" dirty="0">
                <a:solidFill>
                  <a:schemeClr val="tx1"/>
                </a:solidFill>
                <a:effectLst/>
                <a:latin typeface="+mn-lt"/>
              </a:rPr>
              <a:t>    'Needs Improvement’</a:t>
            </a:r>
          </a:p>
          <a:p>
            <a:pPr>
              <a:lnSpc>
                <a:spcPct val="100000"/>
              </a:lnSpc>
              <a:buNone/>
            </a:pPr>
            <a:r>
              <a:rPr lang="en-IN" sz="1800" b="0" dirty="0">
                <a:solidFill>
                  <a:schemeClr val="tx1"/>
                </a:solidFill>
                <a:effectLst/>
                <a:latin typeface="+mn-lt"/>
              </a:rPr>
              <a:t>)</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print(data[['</a:t>
            </a:r>
            <a:r>
              <a:rPr lang="en-IN" sz="1800" b="0" dirty="0" err="1">
                <a:solidFill>
                  <a:schemeClr val="tx1"/>
                </a:solidFill>
                <a:effectLst/>
                <a:latin typeface="+mn-lt"/>
              </a:rPr>
              <a:t>student_id','performance</a:t>
            </a:r>
            <a:r>
              <a:rPr lang="en-IN" sz="1800" b="0" dirty="0">
                <a:solidFill>
                  <a:schemeClr val="tx1"/>
                </a:solidFill>
                <a:effectLst/>
                <a:latin typeface="+mn-lt"/>
              </a:rPr>
              <a:t>’]])</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print(data['performance'].</a:t>
            </a:r>
            <a:r>
              <a:rPr lang="en-IN" sz="1800" b="0" dirty="0" err="1">
                <a:solidFill>
                  <a:schemeClr val="tx1"/>
                </a:solidFill>
                <a:effectLst/>
                <a:latin typeface="+mn-lt"/>
              </a:rPr>
              <a:t>value_counts</a:t>
            </a:r>
            <a:r>
              <a:rPr lang="en-IN" sz="1800" b="0" dirty="0">
                <a:solidFill>
                  <a:schemeClr val="tx1"/>
                </a:solidFill>
                <a:effectLst/>
                <a:latin typeface="+mn-lt"/>
              </a:rPr>
              <a:t>())</a:t>
            </a:r>
            <a:endParaRPr lang="en-IN" sz="1050" b="0" dirty="0">
              <a:solidFill>
                <a:srgbClr val="ABB2BF"/>
              </a:solidFill>
              <a:effectLst/>
              <a:latin typeface="Consolas" panose="020B0609020204030204" pitchFamily="49" charset="0"/>
            </a:endParaRPr>
          </a:p>
        </p:txBody>
      </p:sp>
      <p:pic>
        <p:nvPicPr>
          <p:cNvPr id="12" name="Picture 11">
            <a:extLst>
              <a:ext uri="{FF2B5EF4-FFF2-40B4-BE49-F238E27FC236}">
                <a16:creationId xmlns:a16="http://schemas.microsoft.com/office/drawing/2014/main" id="{7A11A165-07D3-D5A3-03AE-144B53B017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6080" y="1988840"/>
            <a:ext cx="4214225" cy="3947502"/>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14" name="TextBox 13">
            <a:extLst>
              <a:ext uri="{FF2B5EF4-FFF2-40B4-BE49-F238E27FC236}">
                <a16:creationId xmlns:a16="http://schemas.microsoft.com/office/drawing/2014/main" id="{7746D370-8FF8-8D7C-DCDB-CBEDEBD15FF3}"/>
              </a:ext>
            </a:extLst>
          </p:cNvPr>
          <p:cNvSpPr txBox="1"/>
          <p:nvPr/>
        </p:nvSpPr>
        <p:spPr>
          <a:xfrm>
            <a:off x="407368" y="1412811"/>
            <a:ext cx="1944216" cy="461665"/>
          </a:xfrm>
          <a:prstGeom prst="rect">
            <a:avLst/>
          </a:prstGeom>
          <a:noFill/>
        </p:spPr>
        <p:txBody>
          <a:bodyPr wrap="square">
            <a:spAutoFit/>
          </a:bodyPr>
          <a:lstStyle/>
          <a:p>
            <a:r>
              <a:rPr lang="en-US" sz="2400" b="1" dirty="0">
                <a:solidFill>
                  <a:schemeClr val="bg2">
                    <a:lumMod val="50000"/>
                  </a:schemeClr>
                </a:solidFill>
              </a:rPr>
              <a:t>//code</a:t>
            </a:r>
            <a:endParaRPr lang="en-IN" sz="2400" b="1" dirty="0">
              <a:solidFill>
                <a:schemeClr val="bg2">
                  <a:lumMod val="50000"/>
                </a:schemeClr>
              </a:solidFill>
            </a:endParaRPr>
          </a:p>
        </p:txBody>
      </p:sp>
      <p:sp>
        <p:nvSpPr>
          <p:cNvPr id="16" name="TextBox 15">
            <a:extLst>
              <a:ext uri="{FF2B5EF4-FFF2-40B4-BE49-F238E27FC236}">
                <a16:creationId xmlns:a16="http://schemas.microsoft.com/office/drawing/2014/main" id="{605ABC15-8014-0990-C34D-877A1BD7234B}"/>
              </a:ext>
            </a:extLst>
          </p:cNvPr>
          <p:cNvSpPr txBox="1"/>
          <p:nvPr/>
        </p:nvSpPr>
        <p:spPr>
          <a:xfrm>
            <a:off x="5231904" y="1213324"/>
            <a:ext cx="6218852" cy="461665"/>
          </a:xfrm>
          <a:prstGeom prst="rect">
            <a:avLst/>
          </a:prstGeom>
          <a:noFill/>
        </p:spPr>
        <p:txBody>
          <a:bodyPr wrap="square">
            <a:spAutoFit/>
          </a:bodyPr>
          <a:lstStyle/>
          <a:p>
            <a:r>
              <a:rPr lang="en-US" sz="2400" b="1" dirty="0">
                <a:solidFill>
                  <a:schemeClr val="bg2">
                    <a:lumMod val="50000"/>
                  </a:schemeClr>
                </a:solidFill>
              </a:rPr>
              <a:t>//output</a:t>
            </a:r>
            <a:endParaRPr lang="en-IN" sz="2400" b="1" dirty="0">
              <a:solidFill>
                <a:schemeClr val="bg2">
                  <a:lumMod val="50000"/>
                </a:schemeClr>
              </a:solidFill>
            </a:endParaRPr>
          </a:p>
        </p:txBody>
      </p:sp>
    </p:spTree>
    <p:extLst>
      <p:ext uri="{BB962C8B-B14F-4D97-AF65-F5344CB8AC3E}">
        <p14:creationId xmlns:p14="http://schemas.microsoft.com/office/powerpoint/2010/main" val="687564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B7D2E4-6C5B-1E29-0A18-EAAB965BD6BC}"/>
              </a:ext>
            </a:extLst>
          </p:cNvPr>
          <p:cNvSpPr>
            <a:spLocks noGrp="1"/>
          </p:cNvSpPr>
          <p:nvPr>
            <p:ph type="sldNum" sz="quarter" idx="13"/>
          </p:nvPr>
        </p:nvSpPr>
        <p:spPr/>
        <p:txBody>
          <a:bodyPr/>
          <a:lstStyle/>
          <a:p>
            <a:fld id="{326EF2E3-409D-4D76-AD02-397A36B0DAF9}" type="slidenum">
              <a:rPr lang="en-US" smtClean="0"/>
              <a:pPr/>
              <a:t>17</a:t>
            </a:fld>
            <a:endParaRPr lang="en-US"/>
          </a:p>
        </p:txBody>
      </p:sp>
      <p:sp>
        <p:nvSpPr>
          <p:cNvPr id="7" name="TextBox 6">
            <a:extLst>
              <a:ext uri="{FF2B5EF4-FFF2-40B4-BE49-F238E27FC236}">
                <a16:creationId xmlns:a16="http://schemas.microsoft.com/office/drawing/2014/main" id="{A14AB768-B3F4-BF4E-D3FA-7194601129E8}"/>
              </a:ext>
            </a:extLst>
          </p:cNvPr>
          <p:cNvSpPr txBox="1"/>
          <p:nvPr/>
        </p:nvSpPr>
        <p:spPr>
          <a:xfrm>
            <a:off x="3863752" y="692696"/>
            <a:ext cx="4871847" cy="707886"/>
          </a:xfrm>
          <a:prstGeom prst="rect">
            <a:avLst/>
          </a:prstGeom>
          <a:noFill/>
        </p:spPr>
        <p:txBody>
          <a:bodyPr wrap="none" rtlCol="0">
            <a:spAutoFit/>
          </a:bodyPr>
          <a:lstStyle/>
          <a:p>
            <a:r>
              <a:rPr lang="en-US" sz="4000" b="1" dirty="0">
                <a:solidFill>
                  <a:schemeClr val="accent2"/>
                </a:solidFill>
              </a:rPr>
              <a:t>MARKS COMPARISON</a:t>
            </a:r>
            <a:endParaRPr lang="en-IN" sz="4000" b="1" dirty="0">
              <a:solidFill>
                <a:schemeClr val="accent2"/>
              </a:solidFill>
            </a:endParaRPr>
          </a:p>
        </p:txBody>
      </p:sp>
      <p:pic>
        <p:nvPicPr>
          <p:cNvPr id="10" name="Picture 9">
            <a:extLst>
              <a:ext uri="{FF2B5EF4-FFF2-40B4-BE49-F238E27FC236}">
                <a16:creationId xmlns:a16="http://schemas.microsoft.com/office/drawing/2014/main" id="{FE29BB63-21D6-D981-9E94-854C361D0A2B}"/>
              </a:ext>
            </a:extLst>
          </p:cNvPr>
          <p:cNvPicPr>
            <a:picLocks noChangeAspect="1"/>
          </p:cNvPicPr>
          <p:nvPr/>
        </p:nvPicPr>
        <p:blipFill>
          <a:blip r:embed="rId2"/>
          <a:srcRect t="35374" r="2547"/>
          <a:stretch>
            <a:fillRect/>
          </a:stretch>
        </p:blipFill>
        <p:spPr>
          <a:xfrm>
            <a:off x="6600056" y="2132856"/>
            <a:ext cx="4968552" cy="336588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3" name="TextBox 2">
            <a:extLst>
              <a:ext uri="{FF2B5EF4-FFF2-40B4-BE49-F238E27FC236}">
                <a16:creationId xmlns:a16="http://schemas.microsoft.com/office/drawing/2014/main" id="{80134C51-2C42-5ADE-B595-EFEA93E5E859}"/>
              </a:ext>
            </a:extLst>
          </p:cNvPr>
          <p:cNvSpPr txBox="1"/>
          <p:nvPr/>
        </p:nvSpPr>
        <p:spPr>
          <a:xfrm>
            <a:off x="839416" y="1772816"/>
            <a:ext cx="6218852" cy="2820516"/>
          </a:xfrm>
          <a:prstGeom prst="rect">
            <a:avLst/>
          </a:prstGeom>
          <a:noFill/>
        </p:spPr>
        <p:txBody>
          <a:bodyPr wrap="square">
            <a:spAutoFit/>
          </a:bodyPr>
          <a:lstStyle/>
          <a:p>
            <a:pPr>
              <a:lnSpc>
                <a:spcPct val="100000"/>
              </a:lnSpc>
              <a:buNone/>
            </a:pPr>
            <a:r>
              <a:rPr lang="en-IN" sz="1800" b="0" dirty="0">
                <a:solidFill>
                  <a:schemeClr val="tx1"/>
                </a:solidFill>
                <a:effectLst/>
                <a:latin typeface="+mn-lt"/>
              </a:rPr>
              <a:t>import </a:t>
            </a:r>
            <a:r>
              <a:rPr lang="en-IN" sz="1800" b="0" dirty="0" err="1">
                <a:solidFill>
                  <a:schemeClr val="tx1"/>
                </a:solidFill>
                <a:effectLst/>
                <a:latin typeface="+mn-lt"/>
              </a:rPr>
              <a:t>matplotlib.pyplot</a:t>
            </a:r>
            <a:r>
              <a:rPr lang="en-IN" sz="1800" b="0" dirty="0">
                <a:solidFill>
                  <a:schemeClr val="tx1"/>
                </a:solidFill>
                <a:effectLst/>
                <a:latin typeface="+mn-lt"/>
              </a:rPr>
              <a:t> as </a:t>
            </a:r>
            <a:r>
              <a:rPr lang="en-IN" sz="1800" b="0" dirty="0" err="1">
                <a:solidFill>
                  <a:schemeClr val="tx1"/>
                </a:solidFill>
                <a:effectLst/>
                <a:latin typeface="+mn-lt"/>
              </a:rPr>
              <a:t>plt</a:t>
            </a:r>
            <a:endParaRPr lang="en-IN" sz="1800" b="0" dirty="0">
              <a:solidFill>
                <a:schemeClr val="tx1"/>
              </a:solidFill>
              <a:effectLst/>
              <a:latin typeface="+mn-lt"/>
            </a:endParaRP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plt.figure</a:t>
            </a:r>
            <a:r>
              <a:rPr lang="en-IN" sz="1800" b="0" dirty="0">
                <a:solidFill>
                  <a:schemeClr val="tx1"/>
                </a:solidFill>
                <a:effectLst/>
                <a:latin typeface="+mn-lt"/>
              </a:rPr>
              <a:t>(</a:t>
            </a:r>
            <a:r>
              <a:rPr lang="en-IN" sz="1800" b="0" dirty="0" err="1">
                <a:solidFill>
                  <a:schemeClr val="tx1"/>
                </a:solidFill>
                <a:effectLst/>
                <a:latin typeface="+mn-lt"/>
              </a:rPr>
              <a:t>figsize</a:t>
            </a:r>
            <a:r>
              <a:rPr lang="en-IN" sz="1800" b="0" dirty="0">
                <a:solidFill>
                  <a:schemeClr val="tx1"/>
                </a:solidFill>
                <a:effectLst/>
                <a:latin typeface="+mn-lt"/>
              </a:rPr>
              <a:t>=(8, 5))</a:t>
            </a: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plt.bar</a:t>
            </a:r>
            <a:r>
              <a:rPr lang="en-IN" sz="1800" b="0" dirty="0">
                <a:solidFill>
                  <a:schemeClr val="tx1"/>
                </a:solidFill>
                <a:effectLst/>
                <a:latin typeface="+mn-lt"/>
              </a:rPr>
              <a:t>(</a:t>
            </a:r>
            <a:r>
              <a:rPr lang="en-IN" sz="1800" b="0" dirty="0" err="1">
                <a:solidFill>
                  <a:schemeClr val="tx1"/>
                </a:solidFill>
                <a:effectLst/>
                <a:latin typeface="+mn-lt"/>
              </a:rPr>
              <a:t>subject_averages.index</a:t>
            </a:r>
            <a:r>
              <a:rPr lang="en-IN" sz="1800" b="0" dirty="0">
                <a:solidFill>
                  <a:schemeClr val="tx1"/>
                </a:solidFill>
                <a:effectLst/>
                <a:latin typeface="+mn-lt"/>
              </a:rPr>
              <a:t>, </a:t>
            </a:r>
            <a:r>
              <a:rPr lang="en-IN" sz="1800" b="0" dirty="0" err="1">
                <a:solidFill>
                  <a:schemeClr val="tx1"/>
                </a:solidFill>
                <a:effectLst/>
                <a:latin typeface="+mn-lt"/>
              </a:rPr>
              <a:t>subject_averages.values</a:t>
            </a:r>
            <a:r>
              <a:rPr lang="en-IN" sz="1800" b="0" dirty="0">
                <a:solidFill>
                  <a:schemeClr val="tx1"/>
                </a:solidFill>
                <a:effectLst/>
                <a:latin typeface="+mn-lt"/>
              </a:rPr>
              <a:t>)</a:t>
            </a: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plt.xlabel</a:t>
            </a:r>
            <a:r>
              <a:rPr lang="en-IN" sz="1800" b="0" dirty="0">
                <a:solidFill>
                  <a:schemeClr val="tx1"/>
                </a:solidFill>
                <a:effectLst/>
                <a:latin typeface="+mn-lt"/>
              </a:rPr>
              <a:t>("Subjects")</a:t>
            </a:r>
          </a:p>
          <a:p>
            <a:pPr>
              <a:lnSpc>
                <a:spcPct val="100000"/>
              </a:lnSpc>
              <a:buNone/>
            </a:pPr>
            <a:r>
              <a:rPr lang="en-IN" sz="1800" b="0" dirty="0" err="1">
                <a:solidFill>
                  <a:schemeClr val="tx1"/>
                </a:solidFill>
                <a:effectLst/>
                <a:latin typeface="+mn-lt"/>
              </a:rPr>
              <a:t>plt.ylabel</a:t>
            </a:r>
            <a:r>
              <a:rPr lang="en-IN" sz="1800" b="0" dirty="0">
                <a:solidFill>
                  <a:schemeClr val="tx1"/>
                </a:solidFill>
                <a:effectLst/>
                <a:latin typeface="+mn-lt"/>
              </a:rPr>
              <a:t>("Average Marks")</a:t>
            </a:r>
          </a:p>
          <a:p>
            <a:pPr>
              <a:lnSpc>
                <a:spcPct val="100000"/>
              </a:lnSpc>
              <a:buNone/>
            </a:pPr>
            <a:r>
              <a:rPr lang="en-IN" sz="1800" b="0" dirty="0" err="1">
                <a:solidFill>
                  <a:schemeClr val="tx1"/>
                </a:solidFill>
                <a:effectLst/>
                <a:latin typeface="+mn-lt"/>
              </a:rPr>
              <a:t>plt.title</a:t>
            </a:r>
            <a:r>
              <a:rPr lang="en-IN" sz="1800" b="0" dirty="0">
                <a:solidFill>
                  <a:schemeClr val="tx1"/>
                </a:solidFill>
                <a:effectLst/>
                <a:latin typeface="+mn-lt"/>
              </a:rPr>
              <a:t>("Subject-wise Average Marks")</a:t>
            </a: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plt.show</a:t>
            </a:r>
            <a:r>
              <a:rPr lang="en-IN" sz="1800" b="0" dirty="0">
                <a:solidFill>
                  <a:schemeClr val="tx1"/>
                </a:solidFill>
                <a:effectLst/>
                <a:latin typeface="+mn-lt"/>
              </a:rPr>
              <a:t>()</a:t>
            </a:r>
            <a:endParaRPr lang="en-IN" sz="1050" b="0" dirty="0">
              <a:solidFill>
                <a:srgbClr val="ABB2BF"/>
              </a:solidFill>
              <a:effectLst/>
              <a:latin typeface="Consolas" panose="020B0609020204030204" pitchFamily="49" charset="0"/>
            </a:endParaRPr>
          </a:p>
        </p:txBody>
      </p:sp>
      <p:sp>
        <p:nvSpPr>
          <p:cNvPr id="6" name="TextBox 5">
            <a:extLst>
              <a:ext uri="{FF2B5EF4-FFF2-40B4-BE49-F238E27FC236}">
                <a16:creationId xmlns:a16="http://schemas.microsoft.com/office/drawing/2014/main" id="{20AB80C8-E709-44C2-BA52-5E890D94B332}"/>
              </a:ext>
            </a:extLst>
          </p:cNvPr>
          <p:cNvSpPr txBox="1"/>
          <p:nvPr/>
        </p:nvSpPr>
        <p:spPr>
          <a:xfrm>
            <a:off x="413523" y="1325119"/>
            <a:ext cx="6218852" cy="461665"/>
          </a:xfrm>
          <a:prstGeom prst="rect">
            <a:avLst/>
          </a:prstGeom>
          <a:noFill/>
        </p:spPr>
        <p:txBody>
          <a:bodyPr wrap="square">
            <a:spAutoFit/>
          </a:bodyPr>
          <a:lstStyle/>
          <a:p>
            <a:r>
              <a:rPr lang="en-US" sz="2400" b="1" dirty="0">
                <a:solidFill>
                  <a:schemeClr val="bg2">
                    <a:lumMod val="50000"/>
                  </a:schemeClr>
                </a:solidFill>
              </a:rPr>
              <a:t>//code</a:t>
            </a:r>
            <a:endParaRPr lang="en-IN" sz="2400" b="1" dirty="0">
              <a:solidFill>
                <a:schemeClr val="bg2">
                  <a:lumMod val="50000"/>
                </a:schemeClr>
              </a:solidFill>
            </a:endParaRPr>
          </a:p>
        </p:txBody>
      </p:sp>
      <p:sp>
        <p:nvSpPr>
          <p:cNvPr id="11" name="TextBox 10">
            <a:extLst>
              <a:ext uri="{FF2B5EF4-FFF2-40B4-BE49-F238E27FC236}">
                <a16:creationId xmlns:a16="http://schemas.microsoft.com/office/drawing/2014/main" id="{5AEDFC9F-F2A7-69EE-6E22-93111590F927}"/>
              </a:ext>
            </a:extLst>
          </p:cNvPr>
          <p:cNvSpPr txBox="1"/>
          <p:nvPr/>
        </p:nvSpPr>
        <p:spPr>
          <a:xfrm>
            <a:off x="5969373" y="1400582"/>
            <a:ext cx="1326004" cy="461665"/>
          </a:xfrm>
          <a:prstGeom prst="rect">
            <a:avLst/>
          </a:prstGeom>
          <a:noFill/>
        </p:spPr>
        <p:txBody>
          <a:bodyPr wrap="none" rtlCol="0">
            <a:spAutoFit/>
          </a:bodyPr>
          <a:lstStyle/>
          <a:p>
            <a:r>
              <a:rPr lang="en-US" sz="2400" b="1" dirty="0">
                <a:solidFill>
                  <a:schemeClr val="bg2">
                    <a:lumMod val="50000"/>
                  </a:schemeClr>
                </a:solidFill>
              </a:rPr>
              <a:t>//output</a:t>
            </a:r>
            <a:endParaRPr lang="en-IN" sz="2400" b="1" dirty="0">
              <a:solidFill>
                <a:schemeClr val="bg2">
                  <a:lumMod val="50000"/>
                </a:schemeClr>
              </a:solidFill>
            </a:endParaRPr>
          </a:p>
        </p:txBody>
      </p:sp>
    </p:spTree>
    <p:extLst>
      <p:ext uri="{BB962C8B-B14F-4D97-AF65-F5344CB8AC3E}">
        <p14:creationId xmlns:p14="http://schemas.microsoft.com/office/powerpoint/2010/main" val="4080615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8C11E5-F451-3143-61F0-387A66B3F1ED}"/>
              </a:ext>
            </a:extLst>
          </p:cNvPr>
          <p:cNvSpPr>
            <a:spLocks noGrp="1"/>
          </p:cNvSpPr>
          <p:nvPr>
            <p:ph type="sldNum" sz="quarter" idx="13"/>
          </p:nvPr>
        </p:nvSpPr>
        <p:spPr/>
        <p:txBody>
          <a:bodyPr/>
          <a:lstStyle/>
          <a:p>
            <a:fld id="{326EF2E3-409D-4D76-AD02-397A36B0DAF9}" type="slidenum">
              <a:rPr lang="en-US" smtClean="0"/>
              <a:pPr/>
              <a:t>18</a:t>
            </a:fld>
            <a:endParaRPr lang="en-US"/>
          </a:p>
        </p:txBody>
      </p:sp>
      <p:sp>
        <p:nvSpPr>
          <p:cNvPr id="5" name="TextBox 4">
            <a:extLst>
              <a:ext uri="{FF2B5EF4-FFF2-40B4-BE49-F238E27FC236}">
                <a16:creationId xmlns:a16="http://schemas.microsoft.com/office/drawing/2014/main" id="{FE99FDE7-605A-44E2-BEE6-BDE179E7CD8B}"/>
              </a:ext>
            </a:extLst>
          </p:cNvPr>
          <p:cNvSpPr txBox="1"/>
          <p:nvPr/>
        </p:nvSpPr>
        <p:spPr>
          <a:xfrm>
            <a:off x="3935760" y="476672"/>
            <a:ext cx="4876656" cy="707886"/>
          </a:xfrm>
          <a:prstGeom prst="rect">
            <a:avLst/>
          </a:prstGeom>
          <a:noFill/>
        </p:spPr>
        <p:txBody>
          <a:bodyPr wrap="none" rtlCol="0">
            <a:spAutoFit/>
          </a:bodyPr>
          <a:lstStyle/>
          <a:p>
            <a:r>
              <a:rPr lang="en-US" sz="4000" b="1" dirty="0">
                <a:solidFill>
                  <a:schemeClr val="accent2"/>
                </a:solidFill>
              </a:rPr>
              <a:t>GRADE DISTRIBUTION</a:t>
            </a:r>
            <a:endParaRPr lang="en-IN" sz="4000" b="1" dirty="0">
              <a:solidFill>
                <a:schemeClr val="accent2"/>
              </a:solidFill>
            </a:endParaRPr>
          </a:p>
        </p:txBody>
      </p:sp>
      <p:pic>
        <p:nvPicPr>
          <p:cNvPr id="7" name="Picture 6">
            <a:extLst>
              <a:ext uri="{FF2B5EF4-FFF2-40B4-BE49-F238E27FC236}">
                <a16:creationId xmlns:a16="http://schemas.microsoft.com/office/drawing/2014/main" id="{EDD652E1-0461-D313-FE49-60D1B3CDB9DF}"/>
              </a:ext>
            </a:extLst>
          </p:cNvPr>
          <p:cNvPicPr>
            <a:picLocks noChangeAspect="1"/>
          </p:cNvPicPr>
          <p:nvPr/>
        </p:nvPicPr>
        <p:blipFill>
          <a:blip r:embed="rId2"/>
          <a:srcRect t="31426" r="2667"/>
          <a:stretch>
            <a:fillRect/>
          </a:stretch>
        </p:blipFill>
        <p:spPr>
          <a:xfrm>
            <a:off x="6374088" y="2060848"/>
            <a:ext cx="5256584" cy="361396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TextBox 2">
            <a:extLst>
              <a:ext uri="{FF2B5EF4-FFF2-40B4-BE49-F238E27FC236}">
                <a16:creationId xmlns:a16="http://schemas.microsoft.com/office/drawing/2014/main" id="{042310F4-8057-BBC6-48D0-16A1767E8EAE}"/>
              </a:ext>
            </a:extLst>
          </p:cNvPr>
          <p:cNvSpPr txBox="1"/>
          <p:nvPr/>
        </p:nvSpPr>
        <p:spPr>
          <a:xfrm>
            <a:off x="1127448" y="1988840"/>
            <a:ext cx="6218852" cy="2455288"/>
          </a:xfrm>
          <a:prstGeom prst="rect">
            <a:avLst/>
          </a:prstGeom>
          <a:noFill/>
        </p:spPr>
        <p:txBody>
          <a:bodyPr wrap="square">
            <a:spAutoFit/>
          </a:bodyPr>
          <a:lstStyle/>
          <a:p>
            <a:pPr>
              <a:lnSpc>
                <a:spcPct val="100000"/>
              </a:lnSpc>
              <a:buNone/>
            </a:pPr>
            <a:r>
              <a:rPr lang="en-IN" sz="1800" b="0" dirty="0">
                <a:solidFill>
                  <a:schemeClr val="tx1"/>
                </a:solidFill>
                <a:effectLst/>
                <a:latin typeface="+mn-lt"/>
              </a:rPr>
              <a:t>import </a:t>
            </a:r>
            <a:r>
              <a:rPr lang="en-IN" sz="1800" b="0" dirty="0" err="1">
                <a:solidFill>
                  <a:schemeClr val="tx1"/>
                </a:solidFill>
                <a:effectLst/>
                <a:latin typeface="+mn-lt"/>
              </a:rPr>
              <a:t>matplotlib.pyplot</a:t>
            </a:r>
            <a:r>
              <a:rPr lang="en-IN" sz="1800" b="0" dirty="0">
                <a:solidFill>
                  <a:schemeClr val="tx1"/>
                </a:solidFill>
                <a:effectLst/>
                <a:latin typeface="+mn-lt"/>
              </a:rPr>
              <a:t> as </a:t>
            </a:r>
            <a:r>
              <a:rPr lang="en-IN" sz="1800" b="0" dirty="0" err="1">
                <a:solidFill>
                  <a:schemeClr val="tx1"/>
                </a:solidFill>
                <a:effectLst/>
                <a:latin typeface="+mn-lt"/>
              </a:rPr>
              <a:t>plt</a:t>
            </a: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plt.figure</a:t>
            </a:r>
            <a:r>
              <a:rPr lang="en-IN" sz="1800" b="0" dirty="0">
                <a:solidFill>
                  <a:schemeClr val="tx1"/>
                </a:solidFill>
                <a:effectLst/>
                <a:latin typeface="+mn-lt"/>
              </a:rPr>
              <a:t>(</a:t>
            </a:r>
            <a:r>
              <a:rPr lang="en-IN" sz="1800" b="0" dirty="0" err="1">
                <a:solidFill>
                  <a:schemeClr val="tx1"/>
                </a:solidFill>
                <a:effectLst/>
                <a:latin typeface="+mn-lt"/>
              </a:rPr>
              <a:t>figsize</a:t>
            </a:r>
            <a:r>
              <a:rPr lang="en-IN" sz="1800" b="0" dirty="0">
                <a:solidFill>
                  <a:schemeClr val="tx1"/>
                </a:solidFill>
                <a:effectLst/>
                <a:latin typeface="+mn-lt"/>
              </a:rPr>
              <a:t>=(7, 7))</a:t>
            </a: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plt.pie</a:t>
            </a:r>
            <a:r>
              <a:rPr lang="en-IN" sz="1800" b="0" dirty="0">
                <a:solidFill>
                  <a:schemeClr val="tx1"/>
                </a:solidFill>
                <a:effectLst/>
                <a:latin typeface="+mn-lt"/>
              </a:rPr>
              <a:t>(</a:t>
            </a:r>
            <a:r>
              <a:rPr lang="en-IN" sz="1800" b="0" dirty="0" err="1">
                <a:solidFill>
                  <a:schemeClr val="tx1"/>
                </a:solidFill>
                <a:effectLst/>
                <a:latin typeface="+mn-lt"/>
              </a:rPr>
              <a:t>grade_count.values</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labels=</a:t>
            </a:r>
            <a:r>
              <a:rPr lang="en-IN" sz="1800" b="0" dirty="0" err="1">
                <a:solidFill>
                  <a:schemeClr val="tx1"/>
                </a:solidFill>
                <a:effectLst/>
                <a:latin typeface="+mn-lt"/>
              </a:rPr>
              <a:t>grade_count.index</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autopct</a:t>
            </a:r>
            <a:r>
              <a:rPr lang="en-IN" sz="1800" b="0" dirty="0">
                <a:solidFill>
                  <a:schemeClr val="tx1"/>
                </a:solidFill>
                <a:effectLst/>
                <a:latin typeface="+mn-lt"/>
              </a:rPr>
              <a:t>='%1.1f%%')</a:t>
            </a: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plt.title</a:t>
            </a:r>
            <a:r>
              <a:rPr lang="en-IN" sz="1800" b="0" dirty="0">
                <a:solidFill>
                  <a:schemeClr val="tx1"/>
                </a:solidFill>
                <a:effectLst/>
                <a:latin typeface="+mn-lt"/>
              </a:rPr>
              <a:t>("Grade Distribution")</a:t>
            </a:r>
          </a:p>
          <a:p>
            <a:pPr>
              <a:lnSpc>
                <a:spcPct val="100000"/>
              </a:lnSpc>
              <a:buNone/>
            </a:pP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err="1">
                <a:solidFill>
                  <a:schemeClr val="tx1"/>
                </a:solidFill>
                <a:effectLst/>
                <a:latin typeface="+mn-lt"/>
              </a:rPr>
              <a:t>plt.show</a:t>
            </a:r>
            <a:r>
              <a:rPr lang="en-IN" sz="1800" b="0" dirty="0">
                <a:solidFill>
                  <a:schemeClr val="tx1"/>
                </a:solidFill>
                <a:effectLst/>
                <a:latin typeface="+mn-lt"/>
              </a:rPr>
              <a:t>()</a:t>
            </a:r>
            <a:endParaRPr lang="en-IN" sz="1050" b="0" dirty="0">
              <a:solidFill>
                <a:srgbClr val="ABB2BF"/>
              </a:solidFill>
              <a:effectLst/>
              <a:latin typeface="Consolas" panose="020B0609020204030204" pitchFamily="49" charset="0"/>
            </a:endParaRPr>
          </a:p>
        </p:txBody>
      </p:sp>
      <p:sp>
        <p:nvSpPr>
          <p:cNvPr id="6" name="TextBox 5">
            <a:extLst>
              <a:ext uri="{FF2B5EF4-FFF2-40B4-BE49-F238E27FC236}">
                <a16:creationId xmlns:a16="http://schemas.microsoft.com/office/drawing/2014/main" id="{4351A369-67CF-13F6-BAA1-A94F9277309C}"/>
              </a:ext>
            </a:extLst>
          </p:cNvPr>
          <p:cNvSpPr txBox="1"/>
          <p:nvPr/>
        </p:nvSpPr>
        <p:spPr>
          <a:xfrm>
            <a:off x="839416" y="1355867"/>
            <a:ext cx="1064715" cy="461665"/>
          </a:xfrm>
          <a:prstGeom prst="rect">
            <a:avLst/>
          </a:prstGeom>
          <a:noFill/>
        </p:spPr>
        <p:txBody>
          <a:bodyPr wrap="none" rtlCol="0">
            <a:spAutoFit/>
          </a:bodyPr>
          <a:lstStyle/>
          <a:p>
            <a:r>
              <a:rPr lang="en-US" sz="2400" b="1" dirty="0">
                <a:solidFill>
                  <a:schemeClr val="bg2">
                    <a:lumMod val="50000"/>
                  </a:schemeClr>
                </a:solidFill>
              </a:rPr>
              <a:t>//code</a:t>
            </a:r>
            <a:endParaRPr lang="en-IN" sz="2400" b="1" dirty="0">
              <a:solidFill>
                <a:schemeClr val="bg2">
                  <a:lumMod val="50000"/>
                </a:schemeClr>
              </a:solidFill>
            </a:endParaRPr>
          </a:p>
        </p:txBody>
      </p:sp>
      <p:sp>
        <p:nvSpPr>
          <p:cNvPr id="8" name="TextBox 7">
            <a:extLst>
              <a:ext uri="{FF2B5EF4-FFF2-40B4-BE49-F238E27FC236}">
                <a16:creationId xmlns:a16="http://schemas.microsoft.com/office/drawing/2014/main" id="{93E99062-B979-DA9E-1642-6F74FE282273}"/>
              </a:ext>
            </a:extLst>
          </p:cNvPr>
          <p:cNvSpPr txBox="1"/>
          <p:nvPr/>
        </p:nvSpPr>
        <p:spPr>
          <a:xfrm>
            <a:off x="5879976" y="1325120"/>
            <a:ext cx="1326004" cy="461665"/>
          </a:xfrm>
          <a:prstGeom prst="rect">
            <a:avLst/>
          </a:prstGeom>
          <a:noFill/>
        </p:spPr>
        <p:txBody>
          <a:bodyPr wrap="none" rtlCol="0">
            <a:spAutoFit/>
          </a:bodyPr>
          <a:lstStyle/>
          <a:p>
            <a:r>
              <a:rPr lang="en-US" sz="2400" b="1" dirty="0">
                <a:solidFill>
                  <a:schemeClr val="bg2">
                    <a:lumMod val="50000"/>
                  </a:schemeClr>
                </a:solidFill>
              </a:rPr>
              <a:t>//output</a:t>
            </a:r>
            <a:endParaRPr lang="en-IN" sz="2400" b="1" dirty="0">
              <a:solidFill>
                <a:schemeClr val="bg2">
                  <a:lumMod val="50000"/>
                </a:schemeClr>
              </a:solidFill>
            </a:endParaRPr>
          </a:p>
        </p:txBody>
      </p:sp>
    </p:spTree>
    <p:extLst>
      <p:ext uri="{BB962C8B-B14F-4D97-AF65-F5344CB8AC3E}">
        <p14:creationId xmlns:p14="http://schemas.microsoft.com/office/powerpoint/2010/main" val="3262490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57BDBD0-B809-5F51-B34F-368AE4EC729F}"/>
              </a:ext>
            </a:extLst>
          </p:cNvPr>
          <p:cNvSpPr txBox="1"/>
          <p:nvPr/>
        </p:nvSpPr>
        <p:spPr>
          <a:xfrm>
            <a:off x="2711624" y="476672"/>
            <a:ext cx="8234883" cy="707886"/>
          </a:xfrm>
          <a:prstGeom prst="rect">
            <a:avLst/>
          </a:prstGeom>
          <a:noFill/>
        </p:spPr>
        <p:txBody>
          <a:bodyPr wrap="none" rtlCol="0">
            <a:spAutoFit/>
          </a:bodyPr>
          <a:lstStyle/>
          <a:p>
            <a:r>
              <a:rPr lang="en-US" sz="4000" b="1" dirty="0">
                <a:solidFill>
                  <a:srgbClr val="C00000"/>
                </a:solidFill>
              </a:rPr>
              <a:t>TOPPER PREDICTION/IDENTIFICATION</a:t>
            </a:r>
            <a:endParaRPr lang="en-IN" sz="4000" b="1" dirty="0">
              <a:solidFill>
                <a:srgbClr val="C00000"/>
              </a:solidFill>
            </a:endParaRPr>
          </a:p>
        </p:txBody>
      </p:sp>
      <p:pic>
        <p:nvPicPr>
          <p:cNvPr id="8" name="Picture 7">
            <a:extLst>
              <a:ext uri="{FF2B5EF4-FFF2-40B4-BE49-F238E27FC236}">
                <a16:creationId xmlns:a16="http://schemas.microsoft.com/office/drawing/2014/main" id="{19414A0A-5803-4BE8-3637-5DC5D317D68E}"/>
              </a:ext>
            </a:extLst>
          </p:cNvPr>
          <p:cNvPicPr>
            <a:picLocks noChangeAspect="1"/>
          </p:cNvPicPr>
          <p:nvPr/>
        </p:nvPicPr>
        <p:blipFill>
          <a:blip r:embed="rId2"/>
          <a:srcRect t="53808" r="59519"/>
          <a:stretch>
            <a:fillRect/>
          </a:stretch>
        </p:blipFill>
        <p:spPr>
          <a:xfrm>
            <a:off x="2495600" y="4628412"/>
            <a:ext cx="3941846" cy="20900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extLst>
              <a:ext uri="{FF2B5EF4-FFF2-40B4-BE49-F238E27FC236}">
                <a16:creationId xmlns:a16="http://schemas.microsoft.com/office/drawing/2014/main" id="{FAB4ADEE-1C74-6FB4-E994-B87C6B6E3E99}"/>
              </a:ext>
            </a:extLst>
          </p:cNvPr>
          <p:cNvPicPr>
            <a:picLocks noChangeAspect="1"/>
          </p:cNvPicPr>
          <p:nvPr/>
        </p:nvPicPr>
        <p:blipFill>
          <a:blip r:embed="rId3"/>
          <a:srcRect l="546" t="35485" r="23266" b="-2419"/>
          <a:stretch>
            <a:fillRect/>
          </a:stretch>
        </p:blipFill>
        <p:spPr>
          <a:xfrm>
            <a:off x="8328248" y="4522851"/>
            <a:ext cx="2927457" cy="19924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a:extLst>
              <a:ext uri="{FF2B5EF4-FFF2-40B4-BE49-F238E27FC236}">
                <a16:creationId xmlns:a16="http://schemas.microsoft.com/office/drawing/2014/main" id="{D4293812-4E63-E075-D530-70127C6BC4E0}"/>
              </a:ext>
            </a:extLst>
          </p:cNvPr>
          <p:cNvSpPr txBox="1"/>
          <p:nvPr/>
        </p:nvSpPr>
        <p:spPr>
          <a:xfrm>
            <a:off x="585736" y="1758396"/>
            <a:ext cx="5510264" cy="2862322"/>
          </a:xfrm>
          <a:prstGeom prst="rect">
            <a:avLst/>
          </a:prstGeom>
          <a:noFill/>
        </p:spPr>
        <p:txBody>
          <a:bodyPr wrap="square">
            <a:spAutoFit/>
          </a:bodyPr>
          <a:lstStyle/>
          <a:p>
            <a:pPr>
              <a:lnSpc>
                <a:spcPct val="100000"/>
              </a:lnSpc>
              <a:buNone/>
            </a:pPr>
            <a:r>
              <a:rPr lang="en-IN" sz="1800" b="0" dirty="0">
                <a:solidFill>
                  <a:schemeClr val="tx1"/>
                </a:solidFill>
                <a:effectLst/>
                <a:latin typeface="+mn-lt"/>
              </a:rPr>
              <a:t>topper = </a:t>
            </a:r>
            <a:r>
              <a:rPr lang="en-IN" sz="1800" b="0" dirty="0" err="1">
                <a:solidFill>
                  <a:schemeClr val="tx1"/>
                </a:solidFill>
                <a:effectLst/>
                <a:latin typeface="+mn-lt"/>
              </a:rPr>
              <a:t>data.loc</a:t>
            </a:r>
            <a:r>
              <a:rPr lang="en-IN" sz="1800" b="0" dirty="0">
                <a:solidFill>
                  <a:schemeClr val="tx1"/>
                </a:solidFill>
                <a:effectLst/>
                <a:latin typeface="+mn-lt"/>
              </a:rPr>
              <a:t>[data['</a:t>
            </a:r>
            <a:r>
              <a:rPr lang="en-IN" sz="1800" b="0" dirty="0" err="1">
                <a:solidFill>
                  <a:schemeClr val="tx1"/>
                </a:solidFill>
                <a:effectLst/>
                <a:latin typeface="+mn-lt"/>
              </a:rPr>
              <a:t>average_marks</a:t>
            </a:r>
            <a:r>
              <a:rPr lang="en-IN" sz="1800" b="0" dirty="0">
                <a:solidFill>
                  <a:schemeClr val="tx1"/>
                </a:solidFill>
                <a:effectLst/>
                <a:latin typeface="+mn-lt"/>
              </a:rPr>
              <a:t>'].</a:t>
            </a:r>
            <a:r>
              <a:rPr lang="en-IN" sz="1800" b="0" dirty="0" err="1">
                <a:solidFill>
                  <a:schemeClr val="tx1"/>
                </a:solidFill>
                <a:effectLst/>
                <a:latin typeface="+mn-lt"/>
              </a:rPr>
              <a:t>idxmax</a:t>
            </a:r>
            <a:r>
              <a:rPr lang="en-IN" sz="1800" b="0" dirty="0">
                <a:solidFill>
                  <a:schemeClr val="tx1"/>
                </a:solidFill>
                <a:effectLst/>
                <a:latin typeface="+mn-lt"/>
              </a:rPr>
              <a:t>()]</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print("Topper Details:")</a:t>
            </a:r>
          </a:p>
          <a:p>
            <a:pPr>
              <a:lnSpc>
                <a:spcPct val="100000"/>
              </a:lnSpc>
              <a:buNone/>
            </a:pPr>
            <a:r>
              <a:rPr lang="en-IN" sz="1800" b="0" dirty="0">
                <a:solidFill>
                  <a:schemeClr val="tx1"/>
                </a:solidFill>
                <a:effectLst/>
                <a:latin typeface="+mn-lt"/>
              </a:rPr>
              <a:t>print(topper[['</a:t>
            </a:r>
            <a:r>
              <a:rPr lang="en-IN" sz="1800" b="0" dirty="0" err="1">
                <a:solidFill>
                  <a:schemeClr val="tx1"/>
                </a:solidFill>
                <a:effectLst/>
                <a:latin typeface="+mn-lt"/>
              </a:rPr>
              <a:t>student_id</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math_score</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science_score</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english_score</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total_marks</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average_marks</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'grade']])</a:t>
            </a:r>
            <a:endParaRPr lang="en-IN" sz="1050" b="0" dirty="0">
              <a:solidFill>
                <a:srgbClr val="ABB2BF"/>
              </a:solidFill>
              <a:effectLst/>
              <a:latin typeface="Consolas" panose="020B0609020204030204" pitchFamily="49" charset="0"/>
            </a:endParaRPr>
          </a:p>
        </p:txBody>
      </p:sp>
      <p:sp>
        <p:nvSpPr>
          <p:cNvPr id="5" name="TextBox 4">
            <a:extLst>
              <a:ext uri="{FF2B5EF4-FFF2-40B4-BE49-F238E27FC236}">
                <a16:creationId xmlns:a16="http://schemas.microsoft.com/office/drawing/2014/main" id="{6F456A14-BA81-36EE-3584-EF5E5D15170A}"/>
              </a:ext>
            </a:extLst>
          </p:cNvPr>
          <p:cNvSpPr txBox="1"/>
          <p:nvPr/>
        </p:nvSpPr>
        <p:spPr>
          <a:xfrm>
            <a:off x="6687755" y="1758396"/>
            <a:ext cx="5344345" cy="2031325"/>
          </a:xfrm>
          <a:prstGeom prst="rect">
            <a:avLst/>
          </a:prstGeom>
          <a:noFill/>
        </p:spPr>
        <p:txBody>
          <a:bodyPr wrap="square">
            <a:spAutoFit/>
          </a:bodyPr>
          <a:lstStyle/>
          <a:p>
            <a:pPr>
              <a:lnSpc>
                <a:spcPct val="100000"/>
              </a:lnSpc>
              <a:buNone/>
            </a:pPr>
            <a:r>
              <a:rPr lang="en-IN" sz="1800" b="0" dirty="0">
                <a:solidFill>
                  <a:schemeClr val="tx1"/>
                </a:solidFill>
                <a:effectLst/>
                <a:latin typeface="+mn-lt"/>
              </a:rPr>
              <a:t># Topper prediction</a:t>
            </a:r>
          </a:p>
          <a:p>
            <a:pPr>
              <a:lnSpc>
                <a:spcPct val="100000"/>
              </a:lnSpc>
              <a:buNone/>
            </a:pPr>
            <a:r>
              <a:rPr lang="en-IN" sz="1800" b="0" dirty="0" err="1">
                <a:solidFill>
                  <a:schemeClr val="tx1"/>
                </a:solidFill>
                <a:effectLst/>
                <a:latin typeface="+mn-lt"/>
              </a:rPr>
              <a:t>predicted_toppers</a:t>
            </a:r>
            <a:r>
              <a:rPr lang="en-IN" sz="1800" b="0" dirty="0">
                <a:solidFill>
                  <a:schemeClr val="tx1"/>
                </a:solidFill>
                <a:effectLst/>
                <a:latin typeface="+mn-lt"/>
              </a:rPr>
              <a:t> = data[data['</a:t>
            </a:r>
            <a:r>
              <a:rPr lang="en-IN" sz="1800" b="0" dirty="0" err="1">
                <a:solidFill>
                  <a:schemeClr val="tx1"/>
                </a:solidFill>
                <a:effectLst/>
                <a:latin typeface="+mn-lt"/>
              </a:rPr>
              <a:t>average_marks</a:t>
            </a:r>
            <a:r>
              <a:rPr lang="en-IN" sz="1800" b="0" dirty="0">
                <a:solidFill>
                  <a:schemeClr val="tx1"/>
                </a:solidFill>
                <a:effectLst/>
                <a:latin typeface="+mn-lt"/>
              </a:rPr>
              <a:t>'] &gt;= 90]</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print("Potential Topper Candidates:")</a:t>
            </a: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predicted_toppers</a:t>
            </a:r>
            <a:r>
              <a:rPr lang="en-IN" sz="1800" b="0" dirty="0">
                <a:solidFill>
                  <a:schemeClr val="tx1"/>
                </a:solidFill>
                <a:effectLst/>
                <a:latin typeface="+mn-lt"/>
              </a:rPr>
              <a:t>[['</a:t>
            </a:r>
            <a:r>
              <a:rPr lang="en-IN" sz="1800" b="0" dirty="0" err="1">
                <a:solidFill>
                  <a:schemeClr val="tx1"/>
                </a:solidFill>
                <a:effectLst/>
                <a:latin typeface="+mn-lt"/>
              </a:rPr>
              <a:t>student_id</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average_marks</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                         'grade']])</a:t>
            </a:r>
            <a:endParaRPr lang="en-IN" sz="1050" b="0" dirty="0">
              <a:solidFill>
                <a:srgbClr val="ABB2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CFF4667-C0A8-57D6-3487-9F6BB18AC493}"/>
              </a:ext>
            </a:extLst>
          </p:cNvPr>
          <p:cNvSpPr txBox="1"/>
          <p:nvPr/>
        </p:nvSpPr>
        <p:spPr>
          <a:xfrm>
            <a:off x="191344" y="1186789"/>
            <a:ext cx="1224136" cy="461665"/>
          </a:xfrm>
          <a:prstGeom prst="rect">
            <a:avLst/>
          </a:prstGeom>
          <a:noFill/>
        </p:spPr>
        <p:txBody>
          <a:bodyPr wrap="square">
            <a:spAutoFit/>
          </a:bodyPr>
          <a:lstStyle/>
          <a:p>
            <a:r>
              <a:rPr lang="en-US" sz="2400" b="1" dirty="0">
                <a:solidFill>
                  <a:schemeClr val="bg2">
                    <a:lumMod val="50000"/>
                  </a:schemeClr>
                </a:solidFill>
              </a:rPr>
              <a:t>//code</a:t>
            </a:r>
            <a:endParaRPr lang="en-IN" sz="2400" b="1" dirty="0">
              <a:solidFill>
                <a:schemeClr val="bg2">
                  <a:lumMod val="50000"/>
                </a:schemeClr>
              </a:solidFill>
            </a:endParaRPr>
          </a:p>
        </p:txBody>
      </p:sp>
      <p:sp>
        <p:nvSpPr>
          <p:cNvPr id="12" name="TextBox 11">
            <a:extLst>
              <a:ext uri="{FF2B5EF4-FFF2-40B4-BE49-F238E27FC236}">
                <a16:creationId xmlns:a16="http://schemas.microsoft.com/office/drawing/2014/main" id="{7E773C3B-2F28-3DD7-9312-23CD5622B63A}"/>
              </a:ext>
            </a:extLst>
          </p:cNvPr>
          <p:cNvSpPr txBox="1"/>
          <p:nvPr/>
        </p:nvSpPr>
        <p:spPr>
          <a:xfrm>
            <a:off x="6112092" y="1184558"/>
            <a:ext cx="6218852" cy="461665"/>
          </a:xfrm>
          <a:prstGeom prst="rect">
            <a:avLst/>
          </a:prstGeom>
          <a:noFill/>
        </p:spPr>
        <p:txBody>
          <a:bodyPr wrap="square">
            <a:spAutoFit/>
          </a:bodyPr>
          <a:lstStyle/>
          <a:p>
            <a:r>
              <a:rPr lang="en-US" sz="2400" b="1" dirty="0">
                <a:solidFill>
                  <a:schemeClr val="bg2">
                    <a:lumMod val="50000"/>
                  </a:schemeClr>
                </a:solidFill>
              </a:rPr>
              <a:t>//code</a:t>
            </a:r>
            <a:endParaRPr lang="en-IN" sz="2400" b="1" dirty="0">
              <a:solidFill>
                <a:schemeClr val="bg2">
                  <a:lumMod val="50000"/>
                </a:schemeClr>
              </a:solidFill>
            </a:endParaRPr>
          </a:p>
        </p:txBody>
      </p:sp>
      <p:sp>
        <p:nvSpPr>
          <p:cNvPr id="16" name="TextBox 15">
            <a:extLst>
              <a:ext uri="{FF2B5EF4-FFF2-40B4-BE49-F238E27FC236}">
                <a16:creationId xmlns:a16="http://schemas.microsoft.com/office/drawing/2014/main" id="{CF97FB41-9E69-0FB4-AD0A-526E11F99D62}"/>
              </a:ext>
            </a:extLst>
          </p:cNvPr>
          <p:cNvSpPr txBox="1"/>
          <p:nvPr/>
        </p:nvSpPr>
        <p:spPr>
          <a:xfrm>
            <a:off x="398923" y="5057393"/>
            <a:ext cx="6288832" cy="461665"/>
          </a:xfrm>
          <a:prstGeom prst="rect">
            <a:avLst/>
          </a:prstGeom>
          <a:noFill/>
        </p:spPr>
        <p:txBody>
          <a:bodyPr wrap="square">
            <a:spAutoFit/>
          </a:bodyPr>
          <a:lstStyle/>
          <a:p>
            <a:r>
              <a:rPr lang="en-US" sz="2400" b="1" dirty="0">
                <a:solidFill>
                  <a:schemeClr val="bg2">
                    <a:lumMod val="50000"/>
                  </a:schemeClr>
                </a:solidFill>
              </a:rPr>
              <a:t>//output</a:t>
            </a:r>
            <a:endParaRPr lang="en-IN" sz="2400" b="1" dirty="0">
              <a:solidFill>
                <a:schemeClr val="bg2">
                  <a:lumMod val="50000"/>
                </a:schemeClr>
              </a:solidFill>
            </a:endParaRPr>
          </a:p>
        </p:txBody>
      </p:sp>
      <p:sp>
        <p:nvSpPr>
          <p:cNvPr id="18" name="TextBox 17">
            <a:extLst>
              <a:ext uri="{FF2B5EF4-FFF2-40B4-BE49-F238E27FC236}">
                <a16:creationId xmlns:a16="http://schemas.microsoft.com/office/drawing/2014/main" id="{20B8E532-988A-A58C-0183-9C94AF122E9B}"/>
              </a:ext>
            </a:extLst>
          </p:cNvPr>
          <p:cNvSpPr txBox="1"/>
          <p:nvPr/>
        </p:nvSpPr>
        <p:spPr>
          <a:xfrm>
            <a:off x="6810269" y="3842848"/>
            <a:ext cx="5344345" cy="461665"/>
          </a:xfrm>
          <a:prstGeom prst="rect">
            <a:avLst/>
          </a:prstGeom>
          <a:noFill/>
        </p:spPr>
        <p:txBody>
          <a:bodyPr wrap="square">
            <a:spAutoFit/>
          </a:bodyPr>
          <a:lstStyle/>
          <a:p>
            <a:r>
              <a:rPr lang="en-US" sz="2400" b="1" dirty="0">
                <a:solidFill>
                  <a:schemeClr val="bg2">
                    <a:lumMod val="50000"/>
                  </a:schemeClr>
                </a:solidFill>
              </a:rPr>
              <a:t>//output</a:t>
            </a:r>
            <a:endParaRPr lang="en-IN" sz="2400" b="1" dirty="0">
              <a:solidFill>
                <a:schemeClr val="bg2">
                  <a:lumMod val="50000"/>
                </a:schemeClr>
              </a:solidFill>
            </a:endParaRPr>
          </a:p>
        </p:txBody>
      </p:sp>
    </p:spTree>
    <p:extLst>
      <p:ext uri="{BB962C8B-B14F-4D97-AF65-F5344CB8AC3E}">
        <p14:creationId xmlns:p14="http://schemas.microsoft.com/office/powerpoint/2010/main" val="298010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FD3684E-9422-5FEE-E68B-538D8FC27F8F}"/>
              </a:ext>
            </a:extLst>
          </p:cNvPr>
          <p:cNvSpPr txBox="1"/>
          <p:nvPr/>
        </p:nvSpPr>
        <p:spPr>
          <a:xfrm>
            <a:off x="3143672" y="327586"/>
            <a:ext cx="7411003" cy="707886"/>
          </a:xfrm>
          <a:prstGeom prst="rect">
            <a:avLst/>
          </a:prstGeom>
          <a:noFill/>
        </p:spPr>
        <p:txBody>
          <a:bodyPr wrap="none" rtlCol="0">
            <a:spAutoFit/>
          </a:bodyPr>
          <a:lstStyle/>
          <a:p>
            <a:r>
              <a:rPr lang="en-US" sz="4000" b="1" dirty="0">
                <a:solidFill>
                  <a:schemeClr val="accent6">
                    <a:lumMod val="75000"/>
                  </a:schemeClr>
                </a:solidFill>
              </a:rPr>
              <a:t>STUDENT PERFORMANCE REPORT</a:t>
            </a:r>
            <a:endParaRPr lang="en-IN" sz="4000" b="1" dirty="0">
              <a:solidFill>
                <a:schemeClr val="accent6">
                  <a:lumMod val="75000"/>
                </a:schemeClr>
              </a:solidFill>
            </a:endParaRPr>
          </a:p>
        </p:txBody>
      </p:sp>
      <p:pic>
        <p:nvPicPr>
          <p:cNvPr id="11" name="Picture 10">
            <a:extLst>
              <a:ext uri="{FF2B5EF4-FFF2-40B4-BE49-F238E27FC236}">
                <a16:creationId xmlns:a16="http://schemas.microsoft.com/office/drawing/2014/main" id="{AA6BDB2C-985E-A036-6080-0617DFC59AAF}"/>
              </a:ext>
            </a:extLst>
          </p:cNvPr>
          <p:cNvPicPr>
            <a:picLocks noChangeAspect="1"/>
          </p:cNvPicPr>
          <p:nvPr/>
        </p:nvPicPr>
        <p:blipFill>
          <a:blip r:embed="rId2"/>
          <a:stretch>
            <a:fillRect/>
          </a:stretch>
        </p:blipFill>
        <p:spPr>
          <a:xfrm>
            <a:off x="7065197" y="1628800"/>
            <a:ext cx="4532221" cy="38213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a:extLst>
              <a:ext uri="{FF2B5EF4-FFF2-40B4-BE49-F238E27FC236}">
                <a16:creationId xmlns:a16="http://schemas.microsoft.com/office/drawing/2014/main" id="{5DDA8CB1-9220-0AB0-73CF-FA51F93C37EA}"/>
              </a:ext>
            </a:extLst>
          </p:cNvPr>
          <p:cNvSpPr txBox="1"/>
          <p:nvPr/>
        </p:nvSpPr>
        <p:spPr>
          <a:xfrm>
            <a:off x="695400" y="1204391"/>
            <a:ext cx="6912768" cy="5355312"/>
          </a:xfrm>
          <a:prstGeom prst="rect">
            <a:avLst/>
          </a:prstGeom>
          <a:noFill/>
        </p:spPr>
        <p:txBody>
          <a:bodyPr wrap="square">
            <a:spAutoFit/>
          </a:bodyPr>
          <a:lstStyle/>
          <a:p>
            <a:pPr>
              <a:lnSpc>
                <a:spcPct val="100000"/>
              </a:lnSpc>
              <a:buNone/>
            </a:pPr>
            <a:r>
              <a:rPr lang="en-IN" sz="1800" b="0" dirty="0">
                <a:solidFill>
                  <a:schemeClr val="tx1"/>
                </a:solidFill>
                <a:effectLst/>
                <a:latin typeface="+mn-lt"/>
              </a:rPr>
              <a:t>print("===== STUDENT PERFORMANCE REPORT =====")</a:t>
            </a: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nTotal</a:t>
            </a:r>
            <a:r>
              <a:rPr lang="en-IN" sz="1800" b="0" dirty="0">
                <a:solidFill>
                  <a:schemeClr val="tx1"/>
                </a:solidFill>
                <a:effectLst/>
                <a:latin typeface="+mn-lt"/>
              </a:rPr>
              <a:t> Number of Students:", </a:t>
            </a:r>
            <a:r>
              <a:rPr lang="en-IN" sz="1800" b="0" dirty="0" err="1">
                <a:solidFill>
                  <a:schemeClr val="tx1"/>
                </a:solidFill>
                <a:effectLst/>
                <a:latin typeface="+mn-lt"/>
              </a:rPr>
              <a:t>len</a:t>
            </a:r>
            <a:r>
              <a:rPr lang="en-IN" sz="1800" b="0" dirty="0">
                <a:solidFill>
                  <a:schemeClr val="tx1"/>
                </a:solidFill>
                <a:effectLst/>
                <a:latin typeface="+mn-lt"/>
              </a:rPr>
              <a:t>(data))</a:t>
            </a:r>
            <a:br>
              <a:rPr lang="en-IN" sz="1800" b="0" dirty="0">
                <a:solidFill>
                  <a:schemeClr val="tx1"/>
                </a:solidFill>
                <a:effectLst/>
                <a:latin typeface="+mn-lt"/>
              </a:rPr>
            </a:b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nGrade</a:t>
            </a:r>
            <a:r>
              <a:rPr lang="en-IN" sz="1800" b="0" dirty="0">
                <a:solidFill>
                  <a:schemeClr val="tx1"/>
                </a:solidFill>
                <a:effectLst/>
                <a:latin typeface="+mn-lt"/>
              </a:rPr>
              <a:t> Distribution:")</a:t>
            </a: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grade_count</a:t>
            </a:r>
            <a:r>
              <a:rPr lang="en-IN" sz="1800" b="0" dirty="0">
                <a:solidFill>
                  <a:schemeClr val="tx1"/>
                </a:solidFill>
                <a:effectLst/>
                <a:latin typeface="+mn-lt"/>
              </a:rPr>
              <a:t>)</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nPerformance</a:t>
            </a:r>
            <a:r>
              <a:rPr lang="en-IN" sz="1800" b="0" dirty="0">
                <a:solidFill>
                  <a:schemeClr val="tx1"/>
                </a:solidFill>
                <a:effectLst/>
                <a:latin typeface="+mn-lt"/>
              </a:rPr>
              <a:t> Distribution:")</a:t>
            </a:r>
          </a:p>
          <a:p>
            <a:pPr>
              <a:lnSpc>
                <a:spcPct val="100000"/>
              </a:lnSpc>
              <a:buNone/>
            </a:pPr>
            <a:r>
              <a:rPr lang="en-IN" sz="1800" b="0" dirty="0">
                <a:solidFill>
                  <a:schemeClr val="tx1"/>
                </a:solidFill>
                <a:effectLst/>
                <a:latin typeface="+mn-lt"/>
              </a:rPr>
              <a:t>print(data['performance'].</a:t>
            </a:r>
            <a:r>
              <a:rPr lang="en-IN" sz="1800" b="0" dirty="0" err="1">
                <a:solidFill>
                  <a:schemeClr val="tx1"/>
                </a:solidFill>
                <a:effectLst/>
                <a:latin typeface="+mn-lt"/>
              </a:rPr>
              <a:t>value_counts</a:t>
            </a:r>
            <a:r>
              <a:rPr lang="en-IN" sz="1800" b="0" dirty="0">
                <a:solidFill>
                  <a:schemeClr val="tx1"/>
                </a:solidFill>
                <a:effectLst/>
                <a:latin typeface="+mn-lt"/>
              </a:rPr>
              <a:t>())</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nSubject</a:t>
            </a:r>
            <a:r>
              <a:rPr lang="en-IN" sz="1800" b="0" dirty="0">
                <a:solidFill>
                  <a:schemeClr val="tx1"/>
                </a:solidFill>
                <a:effectLst/>
                <a:latin typeface="+mn-lt"/>
              </a:rPr>
              <a:t>-wise Average Marks:")</a:t>
            </a: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subject_averages</a:t>
            </a:r>
            <a:r>
              <a:rPr lang="en-IN" sz="1800" b="0" dirty="0">
                <a:solidFill>
                  <a:schemeClr val="tx1"/>
                </a:solidFill>
                <a:effectLst/>
                <a:latin typeface="+mn-lt"/>
              </a:rPr>
              <a:t>)</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nTopper</a:t>
            </a:r>
            <a:r>
              <a:rPr lang="en-IN" sz="1800" b="0" dirty="0">
                <a:solidFill>
                  <a:schemeClr val="tx1"/>
                </a:solidFill>
                <a:effectLst/>
                <a:latin typeface="+mn-lt"/>
              </a:rPr>
              <a:t> Details:")</a:t>
            </a:r>
          </a:p>
          <a:p>
            <a:pPr>
              <a:lnSpc>
                <a:spcPct val="100000"/>
              </a:lnSpc>
              <a:buNone/>
            </a:pPr>
            <a:r>
              <a:rPr lang="en-IN" sz="1800" b="0" dirty="0">
                <a:solidFill>
                  <a:schemeClr val="tx1"/>
                </a:solidFill>
                <a:effectLst/>
                <a:latin typeface="+mn-lt"/>
              </a:rPr>
              <a:t>print("Student ID:", topper['</a:t>
            </a:r>
            <a:r>
              <a:rPr lang="en-IN" sz="1800" b="0" dirty="0" err="1">
                <a:solidFill>
                  <a:schemeClr val="tx1"/>
                </a:solidFill>
                <a:effectLst/>
                <a:latin typeface="+mn-lt"/>
              </a:rPr>
              <a:t>student_id</a:t>
            </a:r>
            <a:r>
              <a:rPr lang="en-IN" sz="1800" b="0" dirty="0">
                <a:solidFill>
                  <a:schemeClr val="tx1"/>
                </a:solidFill>
                <a:effectLst/>
                <a:latin typeface="+mn-lt"/>
              </a:rPr>
              <a:t>'])</a:t>
            </a:r>
          </a:p>
          <a:p>
            <a:pPr>
              <a:lnSpc>
                <a:spcPct val="100000"/>
              </a:lnSpc>
              <a:buNone/>
            </a:pPr>
            <a:r>
              <a:rPr lang="en-IN" sz="1800" b="0" dirty="0">
                <a:solidFill>
                  <a:schemeClr val="tx1"/>
                </a:solidFill>
                <a:effectLst/>
                <a:latin typeface="+mn-lt"/>
              </a:rPr>
              <a:t>print("Average Marks:", round(topper['</a:t>
            </a:r>
            <a:r>
              <a:rPr lang="en-IN" sz="1800" b="0" dirty="0" err="1">
                <a:solidFill>
                  <a:schemeClr val="tx1"/>
                </a:solidFill>
                <a:effectLst/>
                <a:latin typeface="+mn-lt"/>
              </a:rPr>
              <a:t>average_marks</a:t>
            </a:r>
            <a:r>
              <a:rPr lang="en-IN" sz="1800" b="0" dirty="0">
                <a:solidFill>
                  <a:schemeClr val="tx1"/>
                </a:solidFill>
                <a:effectLst/>
                <a:latin typeface="+mn-lt"/>
              </a:rPr>
              <a:t>'], 2))</a:t>
            </a:r>
          </a:p>
          <a:p>
            <a:pPr>
              <a:lnSpc>
                <a:spcPct val="100000"/>
              </a:lnSpc>
              <a:buNone/>
            </a:pPr>
            <a:r>
              <a:rPr lang="en-IN" sz="1800" b="0" dirty="0">
                <a:solidFill>
                  <a:schemeClr val="tx1"/>
                </a:solidFill>
                <a:effectLst/>
                <a:latin typeface="+mn-lt"/>
              </a:rPr>
              <a:t>print("Grade:", topper['grade'])</a:t>
            </a:r>
          </a:p>
          <a:p>
            <a:pPr>
              <a:lnSpc>
                <a:spcPct val="100000"/>
              </a:lnSpc>
              <a:buNone/>
            </a:pPr>
            <a:endParaRPr lang="en-IN" sz="1800" b="0" dirty="0">
              <a:solidFill>
                <a:schemeClr val="tx1"/>
              </a:solidFill>
              <a:effectLst/>
              <a:latin typeface="+mn-lt"/>
            </a:endParaRPr>
          </a:p>
          <a:p>
            <a:pPr>
              <a:lnSpc>
                <a:spcPct val="100000"/>
              </a:lnSpc>
              <a:buNone/>
            </a:pPr>
            <a:r>
              <a:rPr lang="en-IN" sz="1800" b="0" dirty="0">
                <a:solidFill>
                  <a:schemeClr val="tx1"/>
                </a:solidFill>
                <a:effectLst/>
                <a:latin typeface="+mn-lt"/>
              </a:rPr>
              <a:t>print("\</a:t>
            </a:r>
            <a:r>
              <a:rPr lang="en-IN" sz="1800" b="0" dirty="0" err="1">
                <a:solidFill>
                  <a:schemeClr val="tx1"/>
                </a:solidFill>
                <a:effectLst/>
                <a:latin typeface="+mn-lt"/>
              </a:rPr>
              <a:t>nPotential</a:t>
            </a:r>
            <a:r>
              <a:rPr lang="en-IN" sz="1800" b="0" dirty="0">
                <a:solidFill>
                  <a:schemeClr val="tx1"/>
                </a:solidFill>
                <a:effectLst/>
                <a:latin typeface="+mn-lt"/>
              </a:rPr>
              <a:t> Topper Candidates:",</a:t>
            </a:r>
          </a:p>
          <a:p>
            <a:pPr>
              <a:lnSpc>
                <a:spcPct val="100000"/>
              </a:lnSpc>
              <a:buNone/>
            </a:pPr>
            <a:r>
              <a:rPr lang="en-IN" sz="1800" b="0" dirty="0">
                <a:solidFill>
                  <a:schemeClr val="tx1"/>
                </a:solidFill>
                <a:effectLst/>
                <a:latin typeface="+mn-lt"/>
              </a:rPr>
              <a:t>      </a:t>
            </a:r>
            <a:r>
              <a:rPr lang="en-IN" sz="1800" b="0" dirty="0" err="1">
                <a:solidFill>
                  <a:schemeClr val="tx1"/>
                </a:solidFill>
                <a:effectLst/>
                <a:latin typeface="+mn-lt"/>
              </a:rPr>
              <a:t>len</a:t>
            </a:r>
            <a:r>
              <a:rPr lang="en-IN" sz="1800" b="0" dirty="0">
                <a:solidFill>
                  <a:schemeClr val="tx1"/>
                </a:solidFill>
                <a:effectLst/>
                <a:latin typeface="+mn-lt"/>
              </a:rPr>
              <a:t>(</a:t>
            </a:r>
            <a:r>
              <a:rPr lang="en-IN" sz="1800" b="0" dirty="0" err="1">
                <a:solidFill>
                  <a:schemeClr val="tx1"/>
                </a:solidFill>
                <a:effectLst/>
                <a:latin typeface="+mn-lt"/>
              </a:rPr>
              <a:t>predicted_toppers</a:t>
            </a:r>
            <a:r>
              <a:rPr lang="en-IN" sz="1800" b="0" dirty="0">
                <a:solidFill>
                  <a:schemeClr val="tx1"/>
                </a:solidFill>
                <a:effectLst/>
                <a:latin typeface="+mn-lt"/>
              </a:rPr>
              <a:t>))</a:t>
            </a:r>
            <a:endParaRPr lang="en-IN" sz="1050" b="0" dirty="0">
              <a:solidFill>
                <a:srgbClr val="ABB2BF"/>
              </a:solidFill>
              <a:effectLst/>
              <a:latin typeface="Consolas" panose="020B0609020204030204" pitchFamily="49" charset="0"/>
            </a:endParaRPr>
          </a:p>
        </p:txBody>
      </p:sp>
    </p:spTree>
    <p:extLst>
      <p:ext uri="{BB962C8B-B14F-4D97-AF65-F5344CB8AC3E}">
        <p14:creationId xmlns:p14="http://schemas.microsoft.com/office/powerpoint/2010/main" val="582772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83C9CB-7711-3A04-5B9F-2E29A2E75EC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99456" y="1772816"/>
            <a:ext cx="10536834" cy="410445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8442</TotalTime>
  <Words>1742</Words>
  <Application>Microsoft Office PowerPoint</Application>
  <PresentationFormat>Widescreen</PresentationFormat>
  <Paragraphs>290</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Consolas</vt:lpstr>
      <vt:lpstr>Tw Cen MT</vt:lpstr>
      <vt:lpstr>Wingdings</vt:lpstr>
      <vt:lpstr>Office Theme</vt:lpstr>
      <vt:lpstr>DATA ANALYSIS AND ESSENTIALS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Shabreen Khan</cp:lastModifiedBy>
  <cp:revision>755</cp:revision>
  <cp:lastPrinted>2023-06-09T04:58:36Z</cp:lastPrinted>
  <dcterms:created xsi:type="dcterms:W3CDTF">2019-12-14T03:50:52Z</dcterms:created>
  <dcterms:modified xsi:type="dcterms:W3CDTF">2026-09-30T06:41:47Z</dcterms:modified>
</cp:coreProperties>
</file>